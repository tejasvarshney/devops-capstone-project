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e724d41-52ee-65f3-3df4-6528d7e29996}">
          <p14:sldIdLst>
            <p14:sldId id="256"/>
            <p14:sldId id="257"/>
          </p14:sldIdLst>
        </p14:section>
        <p14:section name="M1 Application" id="{a1cf6ab5-2cf2-513a-d4d6-e024e732c3ca}">
          <p14:sldIdLst>
            <p14:sldId id="258"/>
            <p14:sldId id="259"/>
            <p14:sldId id="260"/>
          </p14:sldIdLst>
        </p14:section>
        <p14:section name="M2-M4 Build" id="{1674dcaa-b2b8-35dc-3106-ed586ebab07b}">
          <p14:sldIdLst>
            <p14:sldId id="261"/>
            <p14:sldId id="262"/>
            <p14:sldId id="263"/>
          </p14:sldIdLst>
        </p14:section>
        <p14:section name="M5-M6 Pipeline" id="{4e2cac7f-4256-98cf-d51d-926219d8ad6b}">
          <p14:sldIdLst>
            <p14:sldId id="264"/>
            <p14:sldId id="265"/>
            <p14:sldId id="266"/>
            <p14:sldId id="267"/>
          </p14:sldIdLst>
        </p14:section>
        <p14:section name="M7 Terraform" id="{0241abaf-9dac-9a0d-124f-bba4c4e0af18}">
          <p14:sldIdLst>
            <p14:sldId id="268"/>
            <p14:sldId id="269"/>
            <p14:sldId id="270"/>
          </p14:sldIdLst>
        </p14:section>
        <p14:section name="M8 Kubernetes" id="{626ca7e4-8574-25e0-fa56-f0dba5a4a22d}">
          <p14:sldIdLst>
            <p14:sldId id="271"/>
            <p14:sldId id="272"/>
            <p14:sldId id="273"/>
          </p14:sldIdLst>
        </p14:section>
        <p14:section name="M9 Observability" id="{1d45fca4-b28f-6b4f-2f39-92f798d8160e}">
          <p14:sldIdLst>
            <p14:sldId id="274"/>
            <p14:sldId id="275"/>
          </p14:sldIdLst>
        </p14:section>
        <p14:section name="Troubleshooting &amp; demo" id="{03fa6c0b-c910-38c9-836d-3b4be76e8d63}">
          <p14:sldIdLst>
            <p14:sldId id="276"/>
            <p14:sldId id="277"/>
          </p14:sldIdLst>
        </p14:section>
        <p14:section name="Summary" id="{30a1bd46-ea13-5f6d-d168-66e4faaa7bcf}">
          <p14:sldIdLst>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TaskBoard, my DevOps final capstone. In the next few minutes I'll follow one real application from my laptop, through automated tests, containers, a CI/CD pipeline with a security gate, and infrastructure as code, all the way into a monitored Kubernetes cluster.
The recorded walkthrough (TaskBoard_DevOps_Capstone_Demo.mp4) follows the same order as these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whole path. A push to GitHub triggers GitHub Actions. Pytest and the frontend build run first. Then both Docker images are built, scanned by Trivy, and pushed to the GitHub Container Registry, tagged with the commit SHA. Terraform provisions an AWS VPC and an EKS cluster. Helm deploys the React frontend, the FastAPI backend and PostgreSQL behind an Ingress, and Prometheus and Grafana watch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application. TaskBoard is a sprint dashboard built with React and Vite. It has KPI cards, a filterable task table with priority badges, an activity feed, and a delivery-pipeline card that shows which commit the running image was built from.
Creating a task opens this modal. I'll add: record the capstone demo walkthrough. High priority, in progress, due on the thirtieth.
After saving, the task appears at the top of the table, the KPI cards update, and the activity feed records it. The browser only ever calls relative URLs like slash API slash tasks. Nginx, and later the Kubernetes Ingress, route them to the backend.
The layout is responsive. On a phone, the table turns into cards and the sidebar becomes a drawer. The UI also has loading, error and connection-lost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is FastAPI with SQLAlchemy. Swagger documents every endpoint: list, get, create, update and delete tasks, a stats endpoint, plus health, readiness and metrics.
Here I create a task straight from Swagger. The API validates the body with Pydantic and returns 201 Created, with the new ID and timestamps.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this is the tasks table in PostgreSQL. Alembic migrations create it: migration one creates the table, migration two seeds demo data. The two tasks I just created are rows eleven and twelve.
Health and readiness answer different questions. Slash health is a cheap liveness check that never touches the database. Slash ready runs a select-one query against PostgreSQL, so Kubernetes stops sending traffic to a Pod that can't reach its database, without restarting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anything is containerised, Pytest runs. Twenty-two tests cover CRUD on every endpoint, the 404 and validation-error paths, filtering and stats, the health, readiness and metrics probes, including a simulated database outage, and the real Alembic migrations, up and down. They run against in-memory SQLite, never the real database. This is the first quality gate.
Bad code -&gt; pytest fails -&gt; pipeline stops -&gt; no broken image is promoted.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lives in a public GitHub repository, built up in focused commits: the backend, the tests, the frontend, containers, the pipeline, Terraform, Helm, monitoring and the troubleshooting lab. The git ignore file keeps dot env files, virtual environments, node modules and Terraform state out of Git.
Repository: https://github.com/TejasVarshney/devops-capstone-project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image starts from Python 3.12 slim, installs dependencies in a cached layer, removes pip, and switches to a non-root user. The frontend is a multi-stage build. Node compiles the React app, and only the static files are copied into an unprivileged Nginx image, so no build tooling ships to production.
docker compose up starts all three services with one command. PostgreSQL has a health check. The backend waits for it, runs its migrations and turns healthy, and only then does the frontend start.
Here are the two images, and proof that neither container runs as root. The backend runs as user ten thousand and one, and Nginx as user one hundred and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one workflow file. It runs on every push and pull request to main, in three jobs: test, then build, scan and push, then deploy. Each job needs the previous one, so a failing test stops the pipeline, and a broken image is never pushed.
This is a real green run on main. Test took eighteen seconds, build, scan and push about a minute. The deploy job is skipped by design until AWS credentials are added as repository secrets, which keeps the pipeline green before the cluster exists.
Run URL: https://github.com/TejasVarshney/devops-capstone-project/actions/runs/38946081098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the log, pytest reports twenty-two passed, the React build succeeds, and the push step uploads both images tagged with the full commit SHA, never latest. That's traceability: any running Pod can be traced back to the exact commit that built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anything is pushed, Trivy scans both images for HIGH and CRITICAL vulnerabilities that already have a fix, and exits with code one on any finding, which fails the build. This run was clean: zero findings in the Debian base and every Python package of the backend, and zero in the Alpine-based frontend. That's not luck: the Dockerfile applies Debian security updates and removes pip, whose vendored libraries carried HIGH CVEs. The Trivy action itself is pinned to a full commit SHA, so a moved tag can't change what the pipeline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images land in GitHub Container Registry as public packages, linked to the repository and tagged with the commit SHA. There's no latest tag to hide which version is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 doesn't create its own network, so Terraform does. Using the official AWS modules, it builds a VPC across two availability zones in Mumbai, with public subnets for load balancers, private subnets for the worker nodes and a NAT gateway, then an EKS cluster with a managed node group of two t3 medium nodes that can scale to four, plus the EBS CSI driver and metrics-server add-ons.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init downloads the AWS provider and modules, fmt confirms the formatting, and validate confirms the configuration is valid. From here the lifecycle is plan, apply, update the kubeconfig, and after the evaluation, destroy, so nothing keeps billing. No credentials ever go into Git: state files and tfvars are ignored, and only the example file is committed. For this recording I run the Kubernetes layer on a local minikube cluster with the very same Helm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Rubric M7 asks for terraform plan output, an AWS Console screenshot of the VPC and EKS cluster in ap-south-1, and terraform destroy output. Run:
  cd terraform &amp;&amp; terraform init &amp;&amp; terraform plan &amp;&amp; terraform apply
  aws eks update-kubeconfig --region ap-south-1 --name taskboard-eks
  ...demo...
  helm uninstall taskboard -n taskboard &amp;&amp; terraform destroy
Replace the three frames on this slide with those screenshots.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uses Helm. One helm upgrade install command renders the Deployments, the PostgreSQL StatefulSet with its persistent volume claim, the Services, the Ingress and the autoscaler. The image tag is required and set to the commit SHA.
All Pods are running: two backend replicas, two frontend replicas, and PostgreSQL. ClusterIP Services give each tier one stable name, so the frontend talks to taskboard-backend, never to a Pod IP that might change.
Helm tracks the release. Helm list shows the deployed chart and version, and helm history keeps every revision, which is what makes helm rollback possible.
Chart: helm/taskboard (Deployments, PostgreSQL StatefulSet + PVC, ClusterIP Services, Ingress, HPA, ServiceMonitor, PrometheusRule, Grafana dashboard ConfigMap).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Ingress routes slash to the frontend, and slash API and slash docs to the backend, on the host taskboard dot local. An Ingress is only configuration; here the NGINX ingress controller implements it.
And here's TaskBoard opened through the Ingress hostname, served by the Pods in the cluster. The pipeline card now shows the commit the images were built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Horizontal Pod Autoscaler scales the backend on CPU. It needs resource requests, which the chart sets, and metrics-server. I start the in-cluster load generator, CPU climbs past the fifty percent target, and the autoscaler goes from two to four to five replicas, its maximum. When the load stops, CPU falls to two percent and it scales back down to two.
Load: kubectl apply -f scripts/load-generator.yaml (4 busybox workers hitting the backend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exposes Prometheus metrics at slash metrics: request counts and latency histograms from the FastAPI instrumentator, plus business counters such as tasks created, completed and deleted.
Prometheus runs in the cluster through kube-prometheus-stack. The chart's ServiceMonitor tells the operator what to scrape, and both backend Pods show as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Grafana loads the TaskBoard dashboard automatically from a ConfigMap shipped in the Helm chart. Across the load test you can see the request rate climb to about a hundred and sixty requests per second, the p95 latency of each endpoint, and only 2xx responses. The 5xx panel shows no data because there were zero server errors.
Further down, CPU per Pod rises with the load and spreads across the new replicas, and the HPA panel shows the autoscaler going from two replicas to five, then stepping back down to two once the load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troubleshooting lab. This Deployment never becomes ready: the Pods are stuck in ImagePullBackOff. The events show why: the image tag says alpne instead of alpine. That tag doesn't exist in the registry. Fixing the tag rolls out healthy Pods.
In the second lab the Pods are healthy but the Service has no endpoints. Comparing the Service selector with the Pod labels shows the mismatch. A Service selects Pods by label: no matching labels, no endpoints, no traffic. Fixing the selector brings the endpoints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full loop. I make a small change, renaming the dashboard heading, and commit it. The new commit gets its own image tag, and helm upgrade rolls it out with zero downtime, because the rolling update never drops below the current capacity. Helm history now shows revision two, and revision one is kept for rollback. Pushed to main, the same change goes through the pipeline you saw earlier, and its deploy job runs the same helm upgrade against EKS, using the images from GHCR.
Refreshing the app through the Ingress shows the change, and the pipeline card shows the new commit SHA.
Live version: edit a file, git commit, git push to main, show the Actions run, then refresh the app via the Ingress.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each module to the slide and video segment that shows it. M7 still needs the AWS screenshots from a real terraform apply/destroy.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whole path: application, Git, CI, Docker, security scanning, the registry, Terraform, Kubernetes, Helm, Ingress, autoscaling, monitoring and troubleshooting. One application and one commit SHA, traceable from source code to a monitored, autoscaling deployment.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417320"/>
            <a:ext cx="10515600" cy="411480"/>
          </a:xfrm>
          <a:prstGeom prst="rect">
            <a:avLst/>
          </a:prstGeom>
          <a:noFill/>
          <a:ln/>
        </p:spPr>
        <p:txBody>
          <a:bodyPr wrap="square" rtlCol="0"/>
          <a:lstStyle>
            <a:lvl1pPr indent="0" marL="0">
              <a:buNone/>
              <a:defRPr lang="en-US" sz="1500" b="1" spc="400" kern="0" dirty="0">
                <a:solidFill>
                  <a:schemeClr val="accent6"/>
                </a:solidFill>
              </a:defRPr>
            </a:lvl1pPr>
          </a:lstStyle>
          <a:p>
            <a:pPr indent="0" marL="0">
              <a:buNone/>
            </a:pPr>
            <a:endParaRPr lang="en-US" sz="1500" dirty="0"/>
          </a:p>
        </p:txBody>
      </p:sp>
      <p:sp>
        <p:nvSpPr>
          <p:cNvPr id="3" name="Text 0"/>
          <p:cNvSpPr/>
          <p:nvPr>
            <p:ph idx="101" type="title" hasCustomPrompt="1"/>
          </p:nvPr>
        </p:nvSpPr>
        <p:spPr>
          <a:xfrm>
            <a:off x="822960" y="1828800"/>
            <a:ext cx="10515600" cy="1234440"/>
          </a:xfrm>
          <a:prstGeom prst="rect">
            <a:avLst/>
          </a:prstGeom>
          <a:noFill/>
          <a:ln/>
        </p:spPr>
        <p:txBody>
          <a:bodyPr wrap="square" rtlCol="0"/>
          <a:lstStyle>
            <a:lvl1pPr algn="l" indent="0" marL="0">
              <a:buNone/>
              <a:defRPr lang="en-US" sz="6600" b="1" dirty="0">
                <a:solidFill>
                  <a:schemeClr val="bg1"/>
                </a:solidFill>
              </a:defRPr>
            </a:lvl1pPr>
          </a:lstStyle>
          <a:p>
            <a:pPr algn="l" indent="0" marL="0">
              <a:buNone/>
            </a:pPr>
            <a:endParaRPr lang="en-US" sz="6600" dirty="0"/>
          </a:p>
        </p:txBody>
      </p:sp>
      <p:sp>
        <p:nvSpPr>
          <p:cNvPr id="4" name="Text 0"/>
          <p:cNvSpPr/>
          <p:nvPr>
            <p:ph idx="102" type="body" hasCustomPrompt="1"/>
          </p:nvPr>
        </p:nvSpPr>
        <p:spPr>
          <a:xfrm>
            <a:off x="822960" y="3108960"/>
            <a:ext cx="9875520" cy="86868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rtlCol="0"/>
          <a:lstStyle>
            <a:lvl1pPr indent="0" marL="0">
              <a:buNone/>
              <a:defRPr lang="en-US" sz="1200" b="1" spc="30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548640"/>
            <a:ext cx="11064240" cy="64008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nvSpPr>
        <p:spPr>
          <a:xfrm>
            <a:off x="548640" y="6419088"/>
            <a:ext cx="5486400" cy="256032"/>
          </a:xfrm>
          <a:prstGeom prst="rect">
            <a:avLst/>
          </a:prstGeom>
          <a:noFill/>
          <a:ln/>
        </p:spPr>
        <p:txBody>
          <a:bodyPr wrap="square" lIns="0" tIns="0" rIns="0" bIns="0" rtlCol="0" anchor="ctr"/>
          <a:lstStyle/>
          <a:p>
            <a:pPr indent="0" marL="0">
              <a:buNone/>
            </a:pPr>
            <a:r>
              <a:rPr lang="en-US" sz="1000" dirty="0">
                <a:solidFill>
                  <a:schemeClr val="bg2"/>
                </a:solidFill>
              </a:rPr>
              <a:t>TaskBoard · DevOps Capstone</a:t>
            </a:r>
            <a:endParaRPr lang="en-US" sz="10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3.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3.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3.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22960" y="1417320"/>
            <a:ext cx="10515600" cy="411480"/>
          </a:xfrm>
          <a:prstGeom prst="rect">
            <a:avLst/>
          </a:prstGeom>
          <a:noFill/>
          <a:ln/>
        </p:spPr>
        <p:txBody>
          <a:bodyPr wrap="square" lIns="0" tIns="0" rIns="0" bIns="0" rtlCol="0"/>
          <a:lstStyle/>
          <a:p>
            <a:pPr indent="0" marL="0">
              <a:buNone/>
            </a:pPr>
            <a:r>
              <a:rPr lang="en-US" sz="1500" b="1" spc="400" kern="0" dirty="0">
                <a:solidFill>
                  <a:schemeClr val="accent6"/>
                </a:solidFill>
              </a:rPr>
              <a:t>DEVOPS FINAL CAPSTONE · SESSION 21</a:t>
            </a:r>
            <a:endParaRPr lang="en-US" sz="1500" dirty="0"/>
          </a:p>
        </p:txBody>
      </p:sp>
      <p:sp>
        <p:nvSpPr>
          <p:cNvPr id="3" name="Text 0"/>
          <p:cNvSpPr/>
          <p:nvPr>
            <p:ph idx="101" type="title" hasCustomPrompt="1"/>
          </p:nvPr>
        </p:nvSpPr>
        <p:spPr>
          <a:xfrm>
            <a:off x="822960" y="1828800"/>
            <a:ext cx="10515600" cy="1234440"/>
          </a:xfrm>
          <a:prstGeom prst="rect">
            <a:avLst/>
          </a:prstGeom>
          <a:noFill/>
          <a:ln/>
        </p:spPr>
        <p:txBody>
          <a:bodyPr wrap="square" lIns="0" tIns="0" rIns="0" bIns="0" rtlCol="0" anchor="ctr"/>
          <a:lstStyle/>
          <a:p>
            <a:pPr algn="l" indent="0" marL="0">
              <a:buNone/>
            </a:pPr>
            <a:r>
              <a:rPr lang="en-US" sz="6600" b="1" dirty="0">
                <a:solidFill>
                  <a:schemeClr val="bg1"/>
                </a:solidFill>
              </a:rPr>
              <a:t>TaskBoard</a:t>
            </a:r>
            <a:endParaRPr lang="en-US" sz="6600" dirty="0"/>
          </a:p>
        </p:txBody>
      </p:sp>
      <p:sp>
        <p:nvSpPr>
          <p:cNvPr id="4" name="Text 0"/>
          <p:cNvSpPr/>
          <p:nvPr>
            <p:ph idx="102" type="body" hasCustomPrompt="1"/>
          </p:nvPr>
        </p:nvSpPr>
        <p:spPr>
          <a:xfrm>
            <a:off x="822960" y="3108960"/>
            <a:ext cx="9875520" cy="868680"/>
          </a:xfrm>
          <a:prstGeom prst="rect">
            <a:avLst/>
          </a:prstGeom>
          <a:noFill/>
          <a:ln/>
        </p:spPr>
        <p:txBody>
          <a:bodyPr wrap="square" lIns="0" tIns="0" rIns="0" bIns="0" rtlCol="0" anchor="t"/>
          <a:lstStyle/>
          <a:p>
            <a:pPr algn="l" indent="0" marL="0">
              <a:buNone/>
            </a:pPr>
            <a:r>
              <a:rPr lang="en-US" sz="2200" dirty="0">
                <a:solidFill>
                  <a:schemeClr val="bg2"/>
                </a:solidFill>
              </a:rPr>
              <a:t>A SaaS-style project management app, followed from a developer laptop to a monitored Kubernetes cluster.</a:t>
            </a:r>
            <a:endParaRPr lang="en-US" sz="2200" dirty="0"/>
          </a:p>
        </p:txBody>
      </p:sp>
      <p:sp>
        <p:nvSpPr>
          <p:cNvPr id="5" name="chip React + Vite"/>
          <p:cNvSpPr/>
          <p:nvPr/>
        </p:nvSpPr>
        <p:spPr>
          <a:xfrm>
            <a:off x="822960" y="4251960"/>
            <a:ext cx="1408176" cy="347472"/>
          </a:xfrm>
          <a:prstGeom prst="roundRect">
            <a:avLst>
              <a:gd name="adj" fmla="val 50000"/>
            </a:avLst>
          </a:prstGeom>
          <a:solidFill>
            <a:schemeClr val="tx2"/>
          </a:solidFill>
          <a:ln w="12700">
            <a:solidFill>
              <a:srgbClr val="2C3260"/>
            </a:solidFill>
            <a:prstDash val="solid"/>
          </a:ln>
        </p:spPr>
      </p:sp>
      <p:sp>
        <p:nvSpPr>
          <p:cNvPr id="6" name="chip text React + Vite"/>
          <p:cNvSpPr txBox="1"/>
          <p:nvPr/>
        </p:nvSpPr>
        <p:spPr>
          <a:xfrm>
            <a:off x="822960" y="4251960"/>
            <a:ext cx="1408176" cy="347472"/>
          </a:xfrm>
          <a:prstGeom prst="rect">
            <a:avLst/>
          </a:prstGeom>
          <a:noFill/>
          <a:ln/>
        </p:spPr>
        <p:txBody>
          <a:bodyPr wrap="square" lIns="0" tIns="0" rIns="0" bIns="0" rtlCol="0" anchor="ctr"/>
          <a:lstStyle/>
          <a:p>
            <a:pPr algn="ctr" indent="0" marL="0">
              <a:buNone/>
            </a:pPr>
            <a:r>
              <a:rPr lang="en-US" sz="1300" dirty="0">
                <a:solidFill>
                  <a:schemeClr val="bg1"/>
                </a:solidFill>
              </a:rPr>
              <a:t>React + Vite</a:t>
            </a:r>
            <a:endParaRPr lang="en-US" sz="1300" dirty="0"/>
          </a:p>
        </p:txBody>
      </p:sp>
      <p:sp>
        <p:nvSpPr>
          <p:cNvPr id="7" name="chip FastAPI"/>
          <p:cNvSpPr/>
          <p:nvPr/>
        </p:nvSpPr>
        <p:spPr>
          <a:xfrm>
            <a:off x="2340864" y="4251960"/>
            <a:ext cx="928116" cy="347472"/>
          </a:xfrm>
          <a:prstGeom prst="roundRect">
            <a:avLst>
              <a:gd name="adj" fmla="val 50000"/>
            </a:avLst>
          </a:prstGeom>
          <a:solidFill>
            <a:schemeClr val="tx2"/>
          </a:solidFill>
          <a:ln w="12700">
            <a:solidFill>
              <a:srgbClr val="2C3260"/>
            </a:solidFill>
            <a:prstDash val="solid"/>
          </a:ln>
        </p:spPr>
      </p:sp>
      <p:sp>
        <p:nvSpPr>
          <p:cNvPr id="8" name="chip text FastAPI"/>
          <p:cNvSpPr txBox="1"/>
          <p:nvPr/>
        </p:nvSpPr>
        <p:spPr>
          <a:xfrm>
            <a:off x="2340864" y="4251960"/>
            <a:ext cx="928116" cy="347472"/>
          </a:xfrm>
          <a:prstGeom prst="rect">
            <a:avLst/>
          </a:prstGeom>
          <a:noFill/>
          <a:ln/>
        </p:spPr>
        <p:txBody>
          <a:bodyPr wrap="square" lIns="0" tIns="0" rIns="0" bIns="0" rtlCol="0" anchor="ctr"/>
          <a:lstStyle/>
          <a:p>
            <a:pPr algn="ctr" indent="0" marL="0">
              <a:buNone/>
            </a:pPr>
            <a:r>
              <a:rPr lang="en-US" sz="1300" dirty="0">
                <a:solidFill>
                  <a:schemeClr val="bg1"/>
                </a:solidFill>
              </a:rPr>
              <a:t>FastAPI</a:t>
            </a:r>
            <a:endParaRPr lang="en-US" sz="1300" dirty="0"/>
          </a:p>
        </p:txBody>
      </p:sp>
      <p:sp>
        <p:nvSpPr>
          <p:cNvPr id="9" name="chip PostgreSQL"/>
          <p:cNvSpPr/>
          <p:nvPr/>
        </p:nvSpPr>
        <p:spPr>
          <a:xfrm>
            <a:off x="3378708" y="4251960"/>
            <a:ext cx="1216152" cy="347472"/>
          </a:xfrm>
          <a:prstGeom prst="roundRect">
            <a:avLst>
              <a:gd name="adj" fmla="val 50000"/>
            </a:avLst>
          </a:prstGeom>
          <a:solidFill>
            <a:schemeClr val="tx2"/>
          </a:solidFill>
          <a:ln w="12700">
            <a:solidFill>
              <a:srgbClr val="2C3260"/>
            </a:solidFill>
            <a:prstDash val="solid"/>
          </a:ln>
        </p:spPr>
      </p:sp>
      <p:sp>
        <p:nvSpPr>
          <p:cNvPr id="10" name="chip text PostgreSQL"/>
          <p:cNvSpPr txBox="1"/>
          <p:nvPr/>
        </p:nvSpPr>
        <p:spPr>
          <a:xfrm>
            <a:off x="3378708" y="4251960"/>
            <a:ext cx="1216152" cy="347472"/>
          </a:xfrm>
          <a:prstGeom prst="rect">
            <a:avLst/>
          </a:prstGeom>
          <a:noFill/>
          <a:ln/>
        </p:spPr>
        <p:txBody>
          <a:bodyPr wrap="square" lIns="0" tIns="0" rIns="0" bIns="0" rtlCol="0" anchor="ctr"/>
          <a:lstStyle/>
          <a:p>
            <a:pPr algn="ctr" indent="0" marL="0">
              <a:buNone/>
            </a:pPr>
            <a:r>
              <a:rPr lang="en-US" sz="1300" dirty="0">
                <a:solidFill>
                  <a:schemeClr val="bg1"/>
                </a:solidFill>
              </a:rPr>
              <a:t>PostgreSQL</a:t>
            </a:r>
            <a:endParaRPr lang="en-US" sz="1300" dirty="0"/>
          </a:p>
        </p:txBody>
      </p:sp>
      <p:sp>
        <p:nvSpPr>
          <p:cNvPr id="11" name="chip Pytest"/>
          <p:cNvSpPr/>
          <p:nvPr/>
        </p:nvSpPr>
        <p:spPr>
          <a:xfrm>
            <a:off x="4704588" y="4251960"/>
            <a:ext cx="832104" cy="347472"/>
          </a:xfrm>
          <a:prstGeom prst="roundRect">
            <a:avLst>
              <a:gd name="adj" fmla="val 50000"/>
            </a:avLst>
          </a:prstGeom>
          <a:solidFill>
            <a:schemeClr val="tx2"/>
          </a:solidFill>
          <a:ln w="12700">
            <a:solidFill>
              <a:srgbClr val="2C3260"/>
            </a:solidFill>
            <a:prstDash val="solid"/>
          </a:ln>
        </p:spPr>
      </p:sp>
      <p:sp>
        <p:nvSpPr>
          <p:cNvPr id="12" name="chip text Pytest"/>
          <p:cNvSpPr txBox="1"/>
          <p:nvPr/>
        </p:nvSpPr>
        <p:spPr>
          <a:xfrm>
            <a:off x="4704588" y="4251960"/>
            <a:ext cx="832104" cy="347472"/>
          </a:xfrm>
          <a:prstGeom prst="rect">
            <a:avLst/>
          </a:prstGeom>
          <a:noFill/>
          <a:ln/>
        </p:spPr>
        <p:txBody>
          <a:bodyPr wrap="square" lIns="0" tIns="0" rIns="0" bIns="0" rtlCol="0" anchor="ctr"/>
          <a:lstStyle/>
          <a:p>
            <a:pPr algn="ctr" indent="0" marL="0">
              <a:buNone/>
            </a:pPr>
            <a:r>
              <a:rPr lang="en-US" sz="1300" dirty="0">
                <a:solidFill>
                  <a:schemeClr val="bg1"/>
                </a:solidFill>
              </a:rPr>
              <a:t>Pytest</a:t>
            </a:r>
            <a:endParaRPr lang="en-US" sz="1300" dirty="0"/>
          </a:p>
        </p:txBody>
      </p:sp>
      <p:sp>
        <p:nvSpPr>
          <p:cNvPr id="13" name="chip Docker"/>
          <p:cNvSpPr/>
          <p:nvPr/>
        </p:nvSpPr>
        <p:spPr>
          <a:xfrm>
            <a:off x="5646420" y="4251960"/>
            <a:ext cx="832104" cy="347472"/>
          </a:xfrm>
          <a:prstGeom prst="roundRect">
            <a:avLst>
              <a:gd name="adj" fmla="val 50000"/>
            </a:avLst>
          </a:prstGeom>
          <a:solidFill>
            <a:schemeClr val="tx2"/>
          </a:solidFill>
          <a:ln w="12700">
            <a:solidFill>
              <a:srgbClr val="2C3260"/>
            </a:solidFill>
            <a:prstDash val="solid"/>
          </a:ln>
        </p:spPr>
      </p:sp>
      <p:sp>
        <p:nvSpPr>
          <p:cNvPr id="14" name="chip text Docker"/>
          <p:cNvSpPr txBox="1"/>
          <p:nvPr/>
        </p:nvSpPr>
        <p:spPr>
          <a:xfrm>
            <a:off x="5646420" y="4251960"/>
            <a:ext cx="832104" cy="347472"/>
          </a:xfrm>
          <a:prstGeom prst="rect">
            <a:avLst/>
          </a:prstGeom>
          <a:noFill/>
          <a:ln/>
        </p:spPr>
        <p:txBody>
          <a:bodyPr wrap="square" lIns="0" tIns="0" rIns="0" bIns="0" rtlCol="0" anchor="ctr"/>
          <a:lstStyle/>
          <a:p>
            <a:pPr algn="ctr" indent="0" marL="0">
              <a:buNone/>
            </a:pPr>
            <a:r>
              <a:rPr lang="en-US" sz="1300" dirty="0">
                <a:solidFill>
                  <a:schemeClr val="bg1"/>
                </a:solidFill>
              </a:rPr>
              <a:t>Docker</a:t>
            </a:r>
            <a:endParaRPr lang="en-US" sz="1300" dirty="0"/>
          </a:p>
        </p:txBody>
      </p:sp>
      <p:sp>
        <p:nvSpPr>
          <p:cNvPr id="15" name="chip GitHub Actions"/>
          <p:cNvSpPr/>
          <p:nvPr/>
        </p:nvSpPr>
        <p:spPr>
          <a:xfrm>
            <a:off x="6588252" y="4251960"/>
            <a:ext cx="1600200" cy="347472"/>
          </a:xfrm>
          <a:prstGeom prst="roundRect">
            <a:avLst>
              <a:gd name="adj" fmla="val 50000"/>
            </a:avLst>
          </a:prstGeom>
          <a:solidFill>
            <a:schemeClr val="tx2"/>
          </a:solidFill>
          <a:ln w="12700">
            <a:solidFill>
              <a:srgbClr val="2C3260"/>
            </a:solidFill>
            <a:prstDash val="solid"/>
          </a:ln>
        </p:spPr>
      </p:sp>
      <p:sp>
        <p:nvSpPr>
          <p:cNvPr id="16" name="chip text GitHub Actions"/>
          <p:cNvSpPr txBox="1"/>
          <p:nvPr/>
        </p:nvSpPr>
        <p:spPr>
          <a:xfrm>
            <a:off x="6588252" y="4251960"/>
            <a:ext cx="1600200" cy="347472"/>
          </a:xfrm>
          <a:prstGeom prst="rect">
            <a:avLst/>
          </a:prstGeom>
          <a:noFill/>
          <a:ln/>
        </p:spPr>
        <p:txBody>
          <a:bodyPr wrap="square" lIns="0" tIns="0" rIns="0" bIns="0" rtlCol="0" anchor="ctr"/>
          <a:lstStyle/>
          <a:p>
            <a:pPr algn="ctr" indent="0" marL="0">
              <a:buNone/>
            </a:pPr>
            <a:r>
              <a:rPr lang="en-US" sz="1300" dirty="0">
                <a:solidFill>
                  <a:schemeClr val="bg1"/>
                </a:solidFill>
              </a:rPr>
              <a:t>GitHub Actions</a:t>
            </a:r>
            <a:endParaRPr lang="en-US" sz="1300" dirty="0"/>
          </a:p>
        </p:txBody>
      </p:sp>
      <p:sp>
        <p:nvSpPr>
          <p:cNvPr id="17" name="chip Trivy"/>
          <p:cNvSpPr/>
          <p:nvPr/>
        </p:nvSpPr>
        <p:spPr>
          <a:xfrm>
            <a:off x="8298180" y="4251960"/>
            <a:ext cx="736092" cy="347472"/>
          </a:xfrm>
          <a:prstGeom prst="roundRect">
            <a:avLst>
              <a:gd name="adj" fmla="val 50000"/>
            </a:avLst>
          </a:prstGeom>
          <a:solidFill>
            <a:schemeClr val="tx2"/>
          </a:solidFill>
          <a:ln w="12700">
            <a:solidFill>
              <a:srgbClr val="2C3260"/>
            </a:solidFill>
            <a:prstDash val="solid"/>
          </a:ln>
        </p:spPr>
      </p:sp>
      <p:sp>
        <p:nvSpPr>
          <p:cNvPr id="18" name="chip text Trivy"/>
          <p:cNvSpPr txBox="1"/>
          <p:nvPr/>
        </p:nvSpPr>
        <p:spPr>
          <a:xfrm>
            <a:off x="8298180" y="4251960"/>
            <a:ext cx="736092" cy="347472"/>
          </a:xfrm>
          <a:prstGeom prst="rect">
            <a:avLst/>
          </a:prstGeom>
          <a:noFill/>
          <a:ln/>
        </p:spPr>
        <p:txBody>
          <a:bodyPr wrap="square" lIns="0" tIns="0" rIns="0" bIns="0" rtlCol="0" anchor="ctr"/>
          <a:lstStyle/>
          <a:p>
            <a:pPr algn="ctr" indent="0" marL="0">
              <a:buNone/>
            </a:pPr>
            <a:r>
              <a:rPr lang="en-US" sz="1300" dirty="0">
                <a:solidFill>
                  <a:schemeClr val="bg1"/>
                </a:solidFill>
              </a:rPr>
              <a:t>Trivy</a:t>
            </a:r>
            <a:endParaRPr lang="en-US" sz="1300" dirty="0"/>
          </a:p>
        </p:txBody>
      </p:sp>
      <p:sp>
        <p:nvSpPr>
          <p:cNvPr id="19" name="chip GHCR"/>
          <p:cNvSpPr/>
          <p:nvPr/>
        </p:nvSpPr>
        <p:spPr>
          <a:xfrm>
            <a:off x="9144000" y="4251960"/>
            <a:ext cx="640080" cy="347472"/>
          </a:xfrm>
          <a:prstGeom prst="roundRect">
            <a:avLst>
              <a:gd name="adj" fmla="val 50000"/>
            </a:avLst>
          </a:prstGeom>
          <a:solidFill>
            <a:schemeClr val="tx2"/>
          </a:solidFill>
          <a:ln w="12700">
            <a:solidFill>
              <a:srgbClr val="2C3260"/>
            </a:solidFill>
            <a:prstDash val="solid"/>
          </a:ln>
        </p:spPr>
      </p:sp>
      <p:sp>
        <p:nvSpPr>
          <p:cNvPr id="20" name="chip text GHCR"/>
          <p:cNvSpPr txBox="1"/>
          <p:nvPr/>
        </p:nvSpPr>
        <p:spPr>
          <a:xfrm>
            <a:off x="9144000" y="4251960"/>
            <a:ext cx="640080" cy="347472"/>
          </a:xfrm>
          <a:prstGeom prst="rect">
            <a:avLst/>
          </a:prstGeom>
          <a:noFill/>
          <a:ln/>
        </p:spPr>
        <p:txBody>
          <a:bodyPr wrap="square" lIns="0" tIns="0" rIns="0" bIns="0" rtlCol="0" anchor="ctr"/>
          <a:lstStyle/>
          <a:p>
            <a:pPr algn="ctr" indent="0" marL="0">
              <a:buNone/>
            </a:pPr>
            <a:r>
              <a:rPr lang="en-US" sz="1300" dirty="0">
                <a:solidFill>
                  <a:schemeClr val="bg1"/>
                </a:solidFill>
              </a:rPr>
              <a:t>GHCR</a:t>
            </a:r>
            <a:endParaRPr lang="en-US" sz="1300" dirty="0"/>
          </a:p>
        </p:txBody>
      </p:sp>
      <p:sp>
        <p:nvSpPr>
          <p:cNvPr id="21" name="chip Terraform"/>
          <p:cNvSpPr/>
          <p:nvPr/>
        </p:nvSpPr>
        <p:spPr>
          <a:xfrm>
            <a:off x="9893808" y="4251960"/>
            <a:ext cx="1120140" cy="347472"/>
          </a:xfrm>
          <a:prstGeom prst="roundRect">
            <a:avLst>
              <a:gd name="adj" fmla="val 50000"/>
            </a:avLst>
          </a:prstGeom>
          <a:solidFill>
            <a:schemeClr val="tx2"/>
          </a:solidFill>
          <a:ln w="12700">
            <a:solidFill>
              <a:srgbClr val="2C3260"/>
            </a:solidFill>
            <a:prstDash val="solid"/>
          </a:ln>
        </p:spPr>
      </p:sp>
      <p:sp>
        <p:nvSpPr>
          <p:cNvPr id="22" name="chip text Terraform"/>
          <p:cNvSpPr txBox="1"/>
          <p:nvPr/>
        </p:nvSpPr>
        <p:spPr>
          <a:xfrm>
            <a:off x="9893808" y="4251960"/>
            <a:ext cx="1120140" cy="347472"/>
          </a:xfrm>
          <a:prstGeom prst="rect">
            <a:avLst/>
          </a:prstGeom>
          <a:noFill/>
          <a:ln/>
        </p:spPr>
        <p:txBody>
          <a:bodyPr wrap="square" lIns="0" tIns="0" rIns="0" bIns="0" rtlCol="0" anchor="ctr"/>
          <a:lstStyle/>
          <a:p>
            <a:pPr algn="ctr" indent="0" marL="0">
              <a:buNone/>
            </a:pPr>
            <a:r>
              <a:rPr lang="en-US" sz="1300" dirty="0">
                <a:solidFill>
                  <a:schemeClr val="bg1"/>
                </a:solidFill>
              </a:rPr>
              <a:t>Terraform</a:t>
            </a:r>
            <a:endParaRPr lang="en-US" sz="1300" dirty="0"/>
          </a:p>
        </p:txBody>
      </p:sp>
      <p:sp>
        <p:nvSpPr>
          <p:cNvPr id="23" name="chip AWS EKS"/>
          <p:cNvSpPr/>
          <p:nvPr/>
        </p:nvSpPr>
        <p:spPr>
          <a:xfrm>
            <a:off x="822960" y="4709160"/>
            <a:ext cx="928116" cy="347472"/>
          </a:xfrm>
          <a:prstGeom prst="roundRect">
            <a:avLst>
              <a:gd name="adj" fmla="val 50000"/>
            </a:avLst>
          </a:prstGeom>
          <a:solidFill>
            <a:schemeClr val="tx2"/>
          </a:solidFill>
          <a:ln w="12700">
            <a:solidFill>
              <a:srgbClr val="2C3260"/>
            </a:solidFill>
            <a:prstDash val="solid"/>
          </a:ln>
        </p:spPr>
      </p:sp>
      <p:sp>
        <p:nvSpPr>
          <p:cNvPr id="24" name="chip text AWS EKS"/>
          <p:cNvSpPr txBox="1"/>
          <p:nvPr/>
        </p:nvSpPr>
        <p:spPr>
          <a:xfrm>
            <a:off x="822960" y="4709160"/>
            <a:ext cx="928116" cy="347472"/>
          </a:xfrm>
          <a:prstGeom prst="rect">
            <a:avLst/>
          </a:prstGeom>
          <a:noFill/>
          <a:ln/>
        </p:spPr>
        <p:txBody>
          <a:bodyPr wrap="square" lIns="0" tIns="0" rIns="0" bIns="0" rtlCol="0" anchor="ctr"/>
          <a:lstStyle/>
          <a:p>
            <a:pPr algn="ctr" indent="0" marL="0">
              <a:buNone/>
            </a:pPr>
            <a:r>
              <a:rPr lang="en-US" sz="1300" dirty="0">
                <a:solidFill>
                  <a:schemeClr val="bg1"/>
                </a:solidFill>
              </a:rPr>
              <a:t>AWS EKS</a:t>
            </a:r>
            <a:endParaRPr lang="en-US" sz="1300" dirty="0"/>
          </a:p>
        </p:txBody>
      </p:sp>
      <p:sp>
        <p:nvSpPr>
          <p:cNvPr id="25" name="chip Helm"/>
          <p:cNvSpPr/>
          <p:nvPr/>
        </p:nvSpPr>
        <p:spPr>
          <a:xfrm>
            <a:off x="1860804" y="4709160"/>
            <a:ext cx="640080" cy="347472"/>
          </a:xfrm>
          <a:prstGeom prst="roundRect">
            <a:avLst>
              <a:gd name="adj" fmla="val 50000"/>
            </a:avLst>
          </a:prstGeom>
          <a:solidFill>
            <a:schemeClr val="tx2"/>
          </a:solidFill>
          <a:ln w="12700">
            <a:solidFill>
              <a:srgbClr val="2C3260"/>
            </a:solidFill>
            <a:prstDash val="solid"/>
          </a:ln>
        </p:spPr>
      </p:sp>
      <p:sp>
        <p:nvSpPr>
          <p:cNvPr id="26" name="chip text Helm"/>
          <p:cNvSpPr txBox="1"/>
          <p:nvPr/>
        </p:nvSpPr>
        <p:spPr>
          <a:xfrm>
            <a:off x="1860804" y="4709160"/>
            <a:ext cx="640080" cy="347472"/>
          </a:xfrm>
          <a:prstGeom prst="rect">
            <a:avLst/>
          </a:prstGeom>
          <a:noFill/>
          <a:ln/>
        </p:spPr>
        <p:txBody>
          <a:bodyPr wrap="square" lIns="0" tIns="0" rIns="0" bIns="0" rtlCol="0" anchor="ctr"/>
          <a:lstStyle/>
          <a:p>
            <a:pPr algn="ctr" indent="0" marL="0">
              <a:buNone/>
            </a:pPr>
            <a:r>
              <a:rPr lang="en-US" sz="1300" dirty="0">
                <a:solidFill>
                  <a:schemeClr val="bg1"/>
                </a:solidFill>
              </a:rPr>
              <a:t>Helm</a:t>
            </a:r>
            <a:endParaRPr lang="en-US" sz="1300" dirty="0"/>
          </a:p>
        </p:txBody>
      </p:sp>
      <p:sp>
        <p:nvSpPr>
          <p:cNvPr id="27" name="chip Ingress"/>
          <p:cNvSpPr/>
          <p:nvPr/>
        </p:nvSpPr>
        <p:spPr>
          <a:xfrm>
            <a:off x="2610612" y="4709160"/>
            <a:ext cx="928116" cy="347472"/>
          </a:xfrm>
          <a:prstGeom prst="roundRect">
            <a:avLst>
              <a:gd name="adj" fmla="val 50000"/>
            </a:avLst>
          </a:prstGeom>
          <a:solidFill>
            <a:schemeClr val="tx2"/>
          </a:solidFill>
          <a:ln w="12700">
            <a:solidFill>
              <a:srgbClr val="2C3260"/>
            </a:solidFill>
            <a:prstDash val="solid"/>
          </a:ln>
        </p:spPr>
      </p:sp>
      <p:sp>
        <p:nvSpPr>
          <p:cNvPr id="28" name="chip text Ingress"/>
          <p:cNvSpPr txBox="1"/>
          <p:nvPr/>
        </p:nvSpPr>
        <p:spPr>
          <a:xfrm>
            <a:off x="2610612" y="4709160"/>
            <a:ext cx="928116" cy="347472"/>
          </a:xfrm>
          <a:prstGeom prst="rect">
            <a:avLst/>
          </a:prstGeom>
          <a:noFill/>
          <a:ln/>
        </p:spPr>
        <p:txBody>
          <a:bodyPr wrap="square" lIns="0" tIns="0" rIns="0" bIns="0" rtlCol="0" anchor="ctr"/>
          <a:lstStyle/>
          <a:p>
            <a:pPr algn="ctr" indent="0" marL="0">
              <a:buNone/>
            </a:pPr>
            <a:r>
              <a:rPr lang="en-US" sz="1300" dirty="0">
                <a:solidFill>
                  <a:schemeClr val="bg1"/>
                </a:solidFill>
              </a:rPr>
              <a:t>Ingress</a:t>
            </a:r>
            <a:endParaRPr lang="en-US" sz="1300" dirty="0"/>
          </a:p>
        </p:txBody>
      </p:sp>
      <p:sp>
        <p:nvSpPr>
          <p:cNvPr id="29" name="chip HPA"/>
          <p:cNvSpPr/>
          <p:nvPr/>
        </p:nvSpPr>
        <p:spPr>
          <a:xfrm>
            <a:off x="3648456" y="4709160"/>
            <a:ext cx="544068" cy="347472"/>
          </a:xfrm>
          <a:prstGeom prst="roundRect">
            <a:avLst>
              <a:gd name="adj" fmla="val 50000"/>
            </a:avLst>
          </a:prstGeom>
          <a:solidFill>
            <a:schemeClr val="tx2"/>
          </a:solidFill>
          <a:ln w="12700">
            <a:solidFill>
              <a:srgbClr val="2C3260"/>
            </a:solidFill>
            <a:prstDash val="solid"/>
          </a:ln>
        </p:spPr>
      </p:sp>
      <p:sp>
        <p:nvSpPr>
          <p:cNvPr id="30" name="chip text HPA"/>
          <p:cNvSpPr txBox="1"/>
          <p:nvPr/>
        </p:nvSpPr>
        <p:spPr>
          <a:xfrm>
            <a:off x="3648456" y="4709160"/>
            <a:ext cx="544068" cy="347472"/>
          </a:xfrm>
          <a:prstGeom prst="rect">
            <a:avLst/>
          </a:prstGeom>
          <a:noFill/>
          <a:ln/>
        </p:spPr>
        <p:txBody>
          <a:bodyPr wrap="square" lIns="0" tIns="0" rIns="0" bIns="0" rtlCol="0" anchor="ctr"/>
          <a:lstStyle/>
          <a:p>
            <a:pPr algn="ctr" indent="0" marL="0">
              <a:buNone/>
            </a:pPr>
            <a:r>
              <a:rPr lang="en-US" sz="1300" dirty="0">
                <a:solidFill>
                  <a:schemeClr val="bg1"/>
                </a:solidFill>
              </a:rPr>
              <a:t>HPA</a:t>
            </a:r>
            <a:endParaRPr lang="en-US" sz="1300" dirty="0"/>
          </a:p>
        </p:txBody>
      </p:sp>
      <p:sp>
        <p:nvSpPr>
          <p:cNvPr id="31" name="chip Prometheus"/>
          <p:cNvSpPr/>
          <p:nvPr/>
        </p:nvSpPr>
        <p:spPr>
          <a:xfrm>
            <a:off x="4302252" y="4709160"/>
            <a:ext cx="1216152" cy="347472"/>
          </a:xfrm>
          <a:prstGeom prst="roundRect">
            <a:avLst>
              <a:gd name="adj" fmla="val 50000"/>
            </a:avLst>
          </a:prstGeom>
          <a:solidFill>
            <a:schemeClr val="tx2"/>
          </a:solidFill>
          <a:ln w="12700">
            <a:solidFill>
              <a:srgbClr val="2C3260"/>
            </a:solidFill>
            <a:prstDash val="solid"/>
          </a:ln>
        </p:spPr>
      </p:sp>
      <p:sp>
        <p:nvSpPr>
          <p:cNvPr id="32" name="chip text Prometheus"/>
          <p:cNvSpPr txBox="1"/>
          <p:nvPr/>
        </p:nvSpPr>
        <p:spPr>
          <a:xfrm>
            <a:off x="4302252" y="4709160"/>
            <a:ext cx="1216152" cy="347472"/>
          </a:xfrm>
          <a:prstGeom prst="rect">
            <a:avLst/>
          </a:prstGeom>
          <a:noFill/>
          <a:ln/>
        </p:spPr>
        <p:txBody>
          <a:bodyPr wrap="square" lIns="0" tIns="0" rIns="0" bIns="0" rtlCol="0" anchor="ctr"/>
          <a:lstStyle/>
          <a:p>
            <a:pPr algn="ctr" indent="0" marL="0">
              <a:buNone/>
            </a:pPr>
            <a:r>
              <a:rPr lang="en-US" sz="1300" dirty="0">
                <a:solidFill>
                  <a:schemeClr val="bg1"/>
                </a:solidFill>
              </a:rPr>
              <a:t>Prometheus</a:t>
            </a:r>
            <a:endParaRPr lang="en-US" sz="1300" dirty="0"/>
          </a:p>
        </p:txBody>
      </p:sp>
      <p:sp>
        <p:nvSpPr>
          <p:cNvPr id="33" name="chip Grafana"/>
          <p:cNvSpPr/>
          <p:nvPr/>
        </p:nvSpPr>
        <p:spPr>
          <a:xfrm>
            <a:off x="5628132" y="4709160"/>
            <a:ext cx="928116" cy="347472"/>
          </a:xfrm>
          <a:prstGeom prst="roundRect">
            <a:avLst>
              <a:gd name="adj" fmla="val 50000"/>
            </a:avLst>
          </a:prstGeom>
          <a:solidFill>
            <a:schemeClr val="tx2"/>
          </a:solidFill>
          <a:ln w="12700">
            <a:solidFill>
              <a:srgbClr val="2C3260"/>
            </a:solidFill>
            <a:prstDash val="solid"/>
          </a:ln>
        </p:spPr>
      </p:sp>
      <p:sp>
        <p:nvSpPr>
          <p:cNvPr id="34" name="chip text Grafana"/>
          <p:cNvSpPr txBox="1"/>
          <p:nvPr/>
        </p:nvSpPr>
        <p:spPr>
          <a:xfrm>
            <a:off x="5628132" y="4709160"/>
            <a:ext cx="928116" cy="347472"/>
          </a:xfrm>
          <a:prstGeom prst="rect">
            <a:avLst/>
          </a:prstGeom>
          <a:noFill/>
          <a:ln/>
        </p:spPr>
        <p:txBody>
          <a:bodyPr wrap="square" lIns="0" tIns="0" rIns="0" bIns="0" rtlCol="0" anchor="ctr"/>
          <a:lstStyle/>
          <a:p>
            <a:pPr algn="ctr" indent="0" marL="0">
              <a:buNone/>
            </a:pPr>
            <a:r>
              <a:rPr lang="en-US" sz="1300" dirty="0">
                <a:solidFill>
                  <a:schemeClr val="bg1"/>
                </a:solidFill>
              </a:rPr>
              <a:t>Grafana</a:t>
            </a:r>
            <a:endParaRPr lang="en-US" sz="1300" dirty="0"/>
          </a:p>
        </p:txBody>
      </p:sp>
      <p:sp>
        <p:nvSpPr>
          <p:cNvPr id="35" name="author line"/>
          <p:cNvSpPr txBox="1"/>
          <p:nvPr/>
        </p:nvSpPr>
        <p:spPr>
          <a:xfrm>
            <a:off x="822960" y="5669280"/>
            <a:ext cx="10515600" cy="365760"/>
          </a:xfrm>
          <a:prstGeom prst="rect">
            <a:avLst/>
          </a:prstGeom>
          <a:noFill/>
          <a:ln/>
        </p:spPr>
        <p:txBody>
          <a:bodyPr wrap="square" lIns="0" tIns="0" rIns="0" bIns="0" rtlCol="0" anchor="ctr"/>
          <a:lstStyle/>
          <a:p>
            <a:pPr indent="0" marL="0">
              <a:buNone/>
            </a:pPr>
            <a:r>
              <a:rPr lang="en-US" sz="1600" b="1" dirty="0">
                <a:solidFill>
                  <a:schemeClr val="bg1"/>
                </a:solidFill>
              </a:rPr>
              <a:t>Tejas Varshney</a:t>
            </a:r>
            <a:pPr indent="0" marL="0">
              <a:buNone/>
            </a:pPr>
            <a:r>
              <a:rPr lang="en-US" sz="1600" dirty="0">
                <a:solidFill>
                  <a:schemeClr val="accent6"/>
                </a:solidFill>
              </a:rPr>
              <a:t>   ·   github.com/TejasVarshney/devops-capstone-project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200" b="1" spc="300" kern="0" dirty="0">
                <a:solidFill>
                  <a:schemeClr val="accent6"/>
                </a:solidFill>
              </a:rPr>
              <a:t>OVERVIEW</a:t>
            </a:r>
            <a:endParaRPr lang="en-US" sz="1200" dirty="0"/>
          </a:p>
        </p:txBody>
      </p:sp>
      <p:sp>
        <p:nvSpPr>
          <p:cNvPr id="3" name="Text 0"/>
          <p:cNvSpPr/>
          <p:nvPr>
            <p:ph idx="101" type="title" hasCustomPrompt="1"/>
          </p:nvPr>
        </p:nvSpPr>
        <p:spPr>
          <a:xfrm>
            <a:off x="548640" y="548640"/>
            <a:ext cx="11064240" cy="640080"/>
          </a:xfrm>
          <a:prstGeom prst="rect">
            <a:avLst/>
          </a:prstGeom>
          <a:noFill/>
          <a:ln/>
        </p:spPr>
        <p:txBody>
          <a:bodyPr wrap="square" lIns="0" tIns="0" rIns="0" bIns="0" rtlCol="0" anchor="ctr"/>
          <a:lstStyle/>
          <a:p>
            <a:pPr algn="l" indent="0" marL="0">
              <a:buNone/>
            </a:pPr>
            <a:r>
              <a:rPr lang="en-US" sz="3200" b="1" dirty="0">
                <a:solidFill>
                  <a:schemeClr val="bg1"/>
                </a:solidFill>
              </a:rPr>
              <a:t>From commit to monitored cluster</a:t>
            </a:r>
            <a:endParaRPr lang="en-US" sz="3200" dirty="0"/>
          </a:p>
        </p:txBody>
      </p:sp>
      <p:sp>
        <p:nvSpPr>
          <p:cNvPr id="4" name="Architecture: build and ship, then provision, deploy and observe frame"/>
          <p:cNvSpPr/>
          <p:nvPr/>
        </p:nvSpPr>
        <p:spPr>
          <a:xfrm>
            <a:off x="512064" y="1580634"/>
            <a:ext cx="11164824" cy="3879612"/>
          </a:xfrm>
          <a:prstGeom prst="roundRect">
            <a:avLst>
              <a:gd name="adj" fmla="val 1414"/>
            </a:avLst>
          </a:prstGeom>
          <a:solidFill>
            <a:schemeClr val="tx2"/>
          </a:solidFill>
          <a:ln w="12700">
            <a:solidFill>
              <a:srgbClr val="2C3260"/>
            </a:solidFill>
            <a:prstDash val="solid"/>
          </a:ln>
        </p:spPr>
      </p:sp>
      <p:pic>
        <p:nvPicPr>
          <p:cNvPr id="5" name="Architecture: build and ship, then provision, deploy and observe" descr="Architecture: build and ship, then provision, deploy and observe">    </p:cNvPr>
          <p:cNvPicPr>
            <a:picLocks noChangeAspect="1"/>
          </p:cNvPicPr>
          <p:nvPr/>
        </p:nvPicPr>
        <p:blipFill>
          <a:blip r:embed="rId1"/>
          <a:stretch>
            <a:fillRect/>
          </a:stretch>
        </p:blipFill>
        <p:spPr>
          <a:xfrm>
            <a:off x="548640" y="1617210"/>
            <a:ext cx="11091672" cy="3806460"/>
          </a:xfrm>
          <a:prstGeom prst="rect">
            <a:avLst/>
          </a:prstGeom>
        </p:spPr>
      </p:pic>
      <p:sp>
        <p:nvSpPr>
          <p:cNvPr id="6" name="architecture caption"/>
          <p:cNvSpPr txBox="1"/>
          <p:nvPr/>
        </p:nvSpPr>
        <p:spPr>
          <a:xfrm>
            <a:off x="548640" y="5715000"/>
            <a:ext cx="11064240" cy="365760"/>
          </a:xfrm>
          <a:prstGeom prst="rect">
            <a:avLst/>
          </a:prstGeom>
          <a:noFill/>
          <a:ln/>
        </p:spPr>
        <p:txBody>
          <a:bodyPr wrap="square" lIns="0" tIns="0" rIns="0" bIns="0" rtlCol="0" anchor="ctr"/>
          <a:lstStyle/>
          <a:p>
            <a:pPr algn="ctr" indent="0" marL="0">
              <a:buNone/>
            </a:pPr>
            <a:r>
              <a:rPr lang="en-US" sz="1600" dirty="0">
                <a:solidFill>
                  <a:schemeClr val="bg2"/>
                </a:solidFill>
              </a:rPr>
              <a:t>Every image is tagged with the Git commit SHA, so a running Pod traces back to the exact commit that built it.</a:t>
            </a:r>
            <a:endParaRPr lang="en-US" sz="16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200" b="1" spc="300" kern="0" dirty="0">
                <a:solidFill>
                  <a:schemeClr val="accent6"/>
                </a:solidFill>
              </a:rPr>
              <a:t>M1 · APPLICATION</a:t>
            </a:r>
            <a:endParaRPr lang="en-US" sz="1200" dirty="0"/>
          </a:p>
        </p:txBody>
      </p:sp>
      <p:sp>
        <p:nvSpPr>
          <p:cNvPr id="3" name="Text 0"/>
          <p:cNvSpPr/>
          <p:nvPr>
            <p:ph idx="101" type="title" hasCustomPrompt="1"/>
          </p:nvPr>
        </p:nvSpPr>
        <p:spPr>
          <a:xfrm>
            <a:off x="548640" y="548640"/>
            <a:ext cx="11064240" cy="640080"/>
          </a:xfrm>
          <a:prstGeom prst="rect">
            <a:avLst/>
          </a:prstGeom>
          <a:noFill/>
          <a:ln/>
        </p:spPr>
        <p:txBody>
          <a:bodyPr wrap="square" lIns="0" tIns="0" rIns="0" bIns="0" rtlCol="0" anchor="ctr"/>
          <a:lstStyle/>
          <a:p>
            <a:pPr algn="l" indent="0" marL="0">
              <a:buNone/>
            </a:pPr>
            <a:r>
              <a:rPr lang="en-US" sz="3200" b="1" dirty="0">
                <a:solidFill>
                  <a:schemeClr val="bg1"/>
                </a:solidFill>
              </a:rPr>
              <a:t>A SaaS-style sprint dashboard</a:t>
            </a:r>
            <a:endParaRPr lang="en-US" sz="3200" dirty="0"/>
          </a:p>
        </p:txBody>
      </p:sp>
      <p:sp>
        <p:nvSpPr>
          <p:cNvPr id="4" name="TaskBoard dashboard after creating a task frame"/>
          <p:cNvSpPr/>
          <p:nvPr/>
        </p:nvSpPr>
        <p:spPr>
          <a:xfrm>
            <a:off x="512064" y="1569339"/>
            <a:ext cx="7936992" cy="4496562"/>
          </a:xfrm>
          <a:prstGeom prst="roundRect">
            <a:avLst>
              <a:gd name="adj" fmla="val 1220"/>
            </a:avLst>
          </a:prstGeom>
          <a:solidFill>
            <a:schemeClr val="tx2"/>
          </a:solidFill>
          <a:ln w="12700">
            <a:solidFill>
              <a:srgbClr val="2C3260"/>
            </a:solidFill>
            <a:prstDash val="solid"/>
          </a:ln>
        </p:spPr>
      </p:sp>
      <p:pic>
        <p:nvPicPr>
          <p:cNvPr id="5" name="TaskBoard dashboard after creating a task" descr="TaskBoard dashboard after creating a task">    </p:cNvPr>
          <p:cNvPicPr>
            <a:picLocks noChangeAspect="1"/>
          </p:cNvPicPr>
          <p:nvPr/>
        </p:nvPicPr>
        <p:blipFill>
          <a:blip r:embed="rId1"/>
          <a:stretch>
            <a:fillRect/>
          </a:stretch>
        </p:blipFill>
        <p:spPr>
          <a:xfrm>
            <a:off x="548640" y="1605915"/>
            <a:ext cx="7863840" cy="4423410"/>
          </a:xfrm>
          <a:prstGeom prst="rect">
            <a:avLst/>
          </a:prstGeom>
        </p:spPr>
      </p:pic>
      <p:sp>
        <p:nvSpPr>
          <p:cNvPr id="6" name="card React + Vite"/>
          <p:cNvSpPr/>
          <p:nvPr/>
        </p:nvSpPr>
        <p:spPr>
          <a:xfrm>
            <a:off x="8732520" y="1371600"/>
            <a:ext cx="2907792" cy="1481328"/>
          </a:xfrm>
          <a:prstGeom prst="roundRect">
            <a:avLst>
              <a:gd name="adj" fmla="val 4938"/>
            </a:avLst>
          </a:prstGeom>
          <a:solidFill>
            <a:schemeClr val="tx2"/>
          </a:solidFill>
          <a:ln w="12700">
            <a:solidFill>
              <a:srgbClr val="2C3260"/>
            </a:solidFill>
            <a:prstDash val="solid"/>
          </a:ln>
        </p:spPr>
      </p:sp>
      <p:sp>
        <p:nvSpPr>
          <p:cNvPr id="7" name="card text React + Vite"/>
          <p:cNvSpPr txBox="1"/>
          <p:nvPr/>
        </p:nvSpPr>
        <p:spPr>
          <a:xfrm>
            <a:off x="8915400" y="1481328"/>
            <a:ext cx="2542032" cy="1261872"/>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React + Vite</a:t>
            </a:r>
            <a:endParaRPr lang="en-US" sz="1700" dirty="0"/>
          </a:p>
          <a:p>
            <a:pPr indent="0" marL="0">
              <a:spcAft>
                <a:spcPts val="400"/>
              </a:spcAft>
              <a:buNone/>
            </a:pPr>
            <a:r>
              <a:rPr lang="en-US" sz="1400" dirty="0">
                <a:solidFill>
                  <a:schemeClr val="bg2"/>
                </a:solidFill>
              </a:rPr>
              <a:t>KPI cards, filterable task table, priority badges, activity feed and a pipeline card.</a:t>
            </a:r>
            <a:endParaRPr lang="en-US" sz="1700" dirty="0"/>
          </a:p>
        </p:txBody>
      </p:sp>
      <p:sp>
        <p:nvSpPr>
          <p:cNvPr id="8" name="card Relative API calls"/>
          <p:cNvSpPr/>
          <p:nvPr/>
        </p:nvSpPr>
        <p:spPr>
          <a:xfrm>
            <a:off x="8732520" y="3072384"/>
            <a:ext cx="2907792" cy="1481328"/>
          </a:xfrm>
          <a:prstGeom prst="roundRect">
            <a:avLst>
              <a:gd name="adj" fmla="val 4938"/>
            </a:avLst>
          </a:prstGeom>
          <a:solidFill>
            <a:schemeClr val="tx2"/>
          </a:solidFill>
          <a:ln w="12700">
            <a:solidFill>
              <a:srgbClr val="2C3260"/>
            </a:solidFill>
            <a:prstDash val="solid"/>
          </a:ln>
        </p:spPr>
      </p:sp>
      <p:sp>
        <p:nvSpPr>
          <p:cNvPr id="9" name="card text Relative API calls"/>
          <p:cNvSpPr txBox="1"/>
          <p:nvPr/>
        </p:nvSpPr>
        <p:spPr>
          <a:xfrm>
            <a:off x="8915400" y="3182112"/>
            <a:ext cx="2542032" cy="1261872"/>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Relative API calls</a:t>
            </a:r>
            <a:endParaRPr lang="en-US" sz="1700" dirty="0"/>
          </a:p>
          <a:p>
            <a:pPr indent="0" marL="0">
              <a:spcAft>
                <a:spcPts val="400"/>
              </a:spcAft>
              <a:buNone/>
            </a:pPr>
            <a:r>
              <a:rPr lang="en-US" sz="1400" dirty="0">
                <a:solidFill>
                  <a:schemeClr val="bg2"/>
                </a:solidFill>
              </a:rPr>
              <a:t>The browser only calls /api/...; Nginx or the Ingress routes to FastAPI.</a:t>
            </a:r>
            <a:endParaRPr lang="en-US" sz="1700" dirty="0"/>
          </a:p>
        </p:txBody>
      </p:sp>
      <p:sp>
        <p:nvSpPr>
          <p:cNvPr id="10" name="card Responsive"/>
          <p:cNvSpPr/>
          <p:nvPr/>
        </p:nvSpPr>
        <p:spPr>
          <a:xfrm>
            <a:off x="8732520" y="4773168"/>
            <a:ext cx="2907792" cy="1481328"/>
          </a:xfrm>
          <a:prstGeom prst="roundRect">
            <a:avLst>
              <a:gd name="adj" fmla="val 4938"/>
            </a:avLst>
          </a:prstGeom>
          <a:solidFill>
            <a:schemeClr val="tx2"/>
          </a:solidFill>
          <a:ln w="12700">
            <a:solidFill>
              <a:srgbClr val="2C3260"/>
            </a:solidFill>
            <a:prstDash val="solid"/>
          </a:ln>
        </p:spPr>
      </p:sp>
      <p:sp>
        <p:nvSpPr>
          <p:cNvPr id="11" name="card text Responsive"/>
          <p:cNvSpPr txBox="1"/>
          <p:nvPr/>
        </p:nvSpPr>
        <p:spPr>
          <a:xfrm>
            <a:off x="8915400" y="4882896"/>
            <a:ext cx="2542032" cy="1261872"/>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Responsive</a:t>
            </a:r>
            <a:endParaRPr lang="en-US" sz="1700" dirty="0"/>
          </a:p>
          <a:p>
            <a:pPr indent="0" marL="0">
              <a:spcAft>
                <a:spcPts val="400"/>
              </a:spcAft>
              <a:buNone/>
            </a:pPr>
            <a:r>
              <a:rPr lang="en-US" sz="1400" dirty="0">
                <a:solidFill>
                  <a:schemeClr val="bg2"/>
                </a:solidFill>
              </a:rPr>
              <a:t>Table becomes cards on phones; loading, error and offline states.</a:t>
            </a:r>
            <a:endParaRPr lang="en-US" sz="17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200" b="1" spc="300" kern="0" dirty="0">
                <a:solidFill>
                  <a:schemeClr val="accent6"/>
                </a:solidFill>
              </a:rPr>
              <a:t>M1 · BACKEND</a:t>
            </a:r>
            <a:endParaRPr lang="en-US" sz="1200" dirty="0"/>
          </a:p>
        </p:txBody>
      </p:sp>
      <p:sp>
        <p:nvSpPr>
          <p:cNvPr id="3" name="Text 0"/>
          <p:cNvSpPr/>
          <p:nvPr>
            <p:ph idx="101" type="title" hasCustomPrompt="1"/>
          </p:nvPr>
        </p:nvSpPr>
        <p:spPr>
          <a:xfrm>
            <a:off x="548640" y="548640"/>
            <a:ext cx="11064240" cy="640080"/>
          </a:xfrm>
          <a:prstGeom prst="rect">
            <a:avLst/>
          </a:prstGeom>
          <a:noFill/>
          <a:ln/>
        </p:spPr>
        <p:txBody>
          <a:bodyPr wrap="square" lIns="0" tIns="0" rIns="0" bIns="0" rtlCol="0" anchor="ctr"/>
          <a:lstStyle/>
          <a:p>
            <a:pPr algn="l" indent="0" marL="0">
              <a:buNone/>
            </a:pPr>
            <a:r>
              <a:rPr lang="en-US" sz="3200" b="1" dirty="0">
                <a:solidFill>
                  <a:schemeClr val="bg1"/>
                </a:solidFill>
              </a:rPr>
              <a:t>FastAPI REST API with Swagger</a:t>
            </a:r>
            <a:endParaRPr lang="en-US" sz="3200" dirty="0"/>
          </a:p>
        </p:txBody>
      </p:sp>
      <p:sp>
        <p:nvSpPr>
          <p:cNvPr id="4" name="Swagger UI: tasks, meta and probe endpoints frame"/>
          <p:cNvSpPr/>
          <p:nvPr/>
        </p:nvSpPr>
        <p:spPr>
          <a:xfrm>
            <a:off x="512064" y="1335024"/>
            <a:ext cx="6473952" cy="3714986"/>
          </a:xfrm>
          <a:prstGeom prst="roundRect">
            <a:avLst>
              <a:gd name="adj" fmla="val 1477"/>
            </a:avLst>
          </a:prstGeom>
          <a:solidFill>
            <a:schemeClr val="tx2"/>
          </a:solidFill>
          <a:ln w="12700">
            <a:solidFill>
              <a:srgbClr val="2C3260"/>
            </a:solidFill>
            <a:prstDash val="solid"/>
          </a:ln>
        </p:spPr>
      </p:sp>
      <p:pic>
        <p:nvPicPr>
          <p:cNvPr id="5" name="Swagger UI: tasks, meta and probe endpoints" descr="Swagger UI: tasks, meta and probe endpoints">    </p:cNvPr>
          <p:cNvPicPr>
            <a:picLocks noChangeAspect="1"/>
          </p:cNvPicPr>
          <p:nvPr/>
        </p:nvPicPr>
        <p:blipFill>
          <a:blip r:embed="rId1"/>
          <a:stretch>
            <a:fillRect/>
          </a:stretch>
        </p:blipFill>
        <p:spPr>
          <a:xfrm>
            <a:off x="548640" y="1371600"/>
            <a:ext cx="6400800" cy="3641834"/>
          </a:xfrm>
          <a:prstGeom prst="rect">
            <a:avLst/>
          </a:prstGeom>
        </p:spPr>
      </p:pic>
      <p:sp>
        <p:nvSpPr>
          <p:cNvPr id="6" name="post label"/>
          <p:cNvSpPr txBox="1"/>
          <p:nvPr/>
        </p:nvSpPr>
        <p:spPr>
          <a:xfrm>
            <a:off x="7269480" y="1371600"/>
            <a:ext cx="4370832" cy="365760"/>
          </a:xfrm>
          <a:prstGeom prst="rect">
            <a:avLst/>
          </a:prstGeom>
          <a:noFill/>
          <a:ln/>
        </p:spPr>
        <p:txBody>
          <a:bodyPr wrap="square" lIns="0" tIns="0" rIns="0" bIns="0" rtlCol="0" anchor="ctr"/>
          <a:lstStyle/>
          <a:p>
            <a:pPr indent="0" marL="0">
              <a:buNone/>
            </a:pPr>
            <a:r>
              <a:rPr lang="en-US" sz="1700" b="1" dirty="0">
                <a:solidFill>
                  <a:schemeClr val="accent2"/>
                </a:solidFill>
              </a:rPr>
              <a:t>POST /api/tasks  →  201 Created</a:t>
            </a:r>
            <a:endParaRPr lang="en-US" sz="1700" dirty="0"/>
          </a:p>
        </p:txBody>
      </p:sp>
      <p:sp>
        <p:nvSpPr>
          <p:cNvPr id="7" name="Swagger: 201 response body frame"/>
          <p:cNvSpPr/>
          <p:nvPr/>
        </p:nvSpPr>
        <p:spPr>
          <a:xfrm>
            <a:off x="7232904" y="1792224"/>
            <a:ext cx="4443984" cy="1472800"/>
          </a:xfrm>
          <a:prstGeom prst="roundRect">
            <a:avLst>
              <a:gd name="adj" fmla="val 3725"/>
            </a:avLst>
          </a:prstGeom>
          <a:solidFill>
            <a:schemeClr val="tx2"/>
          </a:solidFill>
          <a:ln w="12700">
            <a:solidFill>
              <a:srgbClr val="2C3260"/>
            </a:solidFill>
            <a:prstDash val="solid"/>
          </a:ln>
        </p:spPr>
      </p:sp>
      <p:pic>
        <p:nvPicPr>
          <p:cNvPr id="8" name="Swagger: 201 response body" descr="Swagger: 201 response body">    </p:cNvPr>
          <p:cNvPicPr>
            <a:picLocks noChangeAspect="1"/>
          </p:cNvPicPr>
          <p:nvPr/>
        </p:nvPicPr>
        <p:blipFill>
          <a:blip r:embed="rId2"/>
          <a:stretch>
            <a:fillRect/>
          </a:stretch>
        </p:blipFill>
        <p:spPr>
          <a:xfrm>
            <a:off x="7269480" y="1828800"/>
            <a:ext cx="4370832" cy="1399648"/>
          </a:xfrm>
          <a:prstGeom prst="rect">
            <a:avLst/>
          </a:prstGeom>
        </p:spPr>
      </p:pic>
      <p:sp>
        <p:nvSpPr>
          <p:cNvPr id="9" name="card REST endpoints"/>
          <p:cNvSpPr/>
          <p:nvPr/>
        </p:nvSpPr>
        <p:spPr>
          <a:xfrm>
            <a:off x="7269480" y="3502768"/>
            <a:ext cx="4370832" cy="1266136"/>
          </a:xfrm>
          <a:prstGeom prst="roundRect">
            <a:avLst>
              <a:gd name="adj" fmla="val 5778"/>
            </a:avLst>
          </a:prstGeom>
          <a:solidFill>
            <a:schemeClr val="tx2"/>
          </a:solidFill>
          <a:ln w="12700">
            <a:solidFill>
              <a:srgbClr val="2C3260"/>
            </a:solidFill>
            <a:prstDash val="solid"/>
          </a:ln>
        </p:spPr>
      </p:sp>
      <p:sp>
        <p:nvSpPr>
          <p:cNvPr id="10" name="card text REST endpoints"/>
          <p:cNvSpPr txBox="1"/>
          <p:nvPr/>
        </p:nvSpPr>
        <p:spPr>
          <a:xfrm>
            <a:off x="7452360" y="3612496"/>
            <a:ext cx="4005072" cy="1046680"/>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REST endpoints</a:t>
            </a:r>
            <a:endParaRPr lang="en-US" sz="1700" dirty="0"/>
          </a:p>
          <a:p>
            <a:pPr indent="0" marL="0">
              <a:spcAft>
                <a:spcPts val="400"/>
              </a:spcAft>
              <a:buNone/>
            </a:pPr>
            <a:r>
              <a:rPr lang="en-US" sz="1400" dirty="0">
                <a:solidFill>
                  <a:schemeClr val="bg2"/>
                </a:solidFill>
              </a:rPr>
              <a:t>GET, POST, PUT and DELETE on /api/tasks, plus /stats, /health, /ready and /metrics.</a:t>
            </a:r>
            <a:endParaRPr lang="en-US" sz="1700" dirty="0"/>
          </a:p>
        </p:txBody>
      </p:sp>
      <p:sp>
        <p:nvSpPr>
          <p:cNvPr id="11" name="card Validated"/>
          <p:cNvSpPr/>
          <p:nvPr/>
        </p:nvSpPr>
        <p:spPr>
          <a:xfrm>
            <a:off x="7269480" y="4997504"/>
            <a:ext cx="4370832" cy="1266136"/>
          </a:xfrm>
          <a:prstGeom prst="roundRect">
            <a:avLst>
              <a:gd name="adj" fmla="val 5778"/>
            </a:avLst>
          </a:prstGeom>
          <a:solidFill>
            <a:schemeClr val="tx2"/>
          </a:solidFill>
          <a:ln w="12700">
            <a:solidFill>
              <a:srgbClr val="2C3260"/>
            </a:solidFill>
            <a:prstDash val="solid"/>
          </a:ln>
        </p:spPr>
      </p:sp>
      <p:sp>
        <p:nvSpPr>
          <p:cNvPr id="12" name="card text Validated"/>
          <p:cNvSpPr txBox="1"/>
          <p:nvPr/>
        </p:nvSpPr>
        <p:spPr>
          <a:xfrm>
            <a:off x="7452360" y="5107232"/>
            <a:ext cx="4005072" cy="1046680"/>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Validated</a:t>
            </a:r>
            <a:endParaRPr lang="en-US" sz="1700" dirty="0"/>
          </a:p>
          <a:p>
            <a:pPr indent="0" marL="0">
              <a:spcAft>
                <a:spcPts val="400"/>
              </a:spcAft>
              <a:buNone/>
            </a:pPr>
            <a:r>
              <a:rPr lang="en-US" sz="1400" dirty="0">
                <a:solidFill>
                  <a:schemeClr val="bg2"/>
                </a:solidFill>
              </a:rPr>
              <a:t>Pydantic rejects bad input with 422; unknown IDs return 404.</a:t>
            </a:r>
            <a:endParaRPr lang="en-US" sz="17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200" b="1" spc="300" kern="0" dirty="0">
                <a:solidFill>
                  <a:schemeClr val="accent6"/>
                </a:solidFill>
              </a:rPr>
              <a:t>M1 · DATABASE</a:t>
            </a:r>
            <a:endParaRPr lang="en-US" sz="1200" dirty="0"/>
          </a:p>
        </p:txBody>
      </p:sp>
      <p:sp>
        <p:nvSpPr>
          <p:cNvPr id="3" name="Text 0"/>
          <p:cNvSpPr/>
          <p:nvPr>
            <p:ph idx="101" type="title" hasCustomPrompt="1"/>
          </p:nvPr>
        </p:nvSpPr>
        <p:spPr>
          <a:xfrm>
            <a:off x="548640" y="548640"/>
            <a:ext cx="11064240" cy="640080"/>
          </a:xfrm>
          <a:prstGeom prst="rect">
            <a:avLst/>
          </a:prstGeom>
          <a:noFill/>
          <a:ln/>
        </p:spPr>
        <p:txBody>
          <a:bodyPr wrap="square" lIns="0" tIns="0" rIns="0" bIns="0" rtlCol="0" anchor="ctr"/>
          <a:lstStyle/>
          <a:p>
            <a:pPr algn="l" indent="0" marL="0">
              <a:buNone/>
            </a:pPr>
            <a:r>
              <a:rPr lang="en-US" sz="3200" b="1" dirty="0">
                <a:solidFill>
                  <a:schemeClr val="bg1"/>
                </a:solidFill>
              </a:rPr>
              <a:t>PostgreSQL, managed by Alembic migrations</a:t>
            </a:r>
            <a:endParaRPr lang="en-US" sz="3200" dirty="0"/>
          </a:p>
        </p:txBody>
      </p:sp>
      <p:sp>
        <p:nvSpPr>
          <p:cNvPr id="4" name="psql: tasks table frame"/>
          <p:cNvSpPr/>
          <p:nvPr/>
        </p:nvSpPr>
        <p:spPr>
          <a:xfrm>
            <a:off x="512064" y="1335024"/>
            <a:ext cx="8211312" cy="3384389"/>
          </a:xfrm>
          <a:prstGeom prst="roundRect">
            <a:avLst>
              <a:gd name="adj" fmla="val 1621"/>
            </a:avLst>
          </a:prstGeom>
          <a:solidFill>
            <a:schemeClr val="tx2"/>
          </a:solidFill>
          <a:ln w="12700">
            <a:solidFill>
              <a:srgbClr val="2C3260"/>
            </a:solidFill>
            <a:prstDash val="solid"/>
          </a:ln>
        </p:spPr>
      </p:sp>
      <p:pic>
        <p:nvPicPr>
          <p:cNvPr id="5" name="psql: tasks table" descr="psql: tasks table">    </p:cNvPr>
          <p:cNvPicPr>
            <a:picLocks noChangeAspect="1"/>
          </p:cNvPicPr>
          <p:nvPr/>
        </p:nvPicPr>
        <p:blipFill>
          <a:blip r:embed="rId1"/>
          <a:stretch>
            <a:fillRect/>
          </a:stretch>
        </p:blipFill>
        <p:spPr>
          <a:xfrm>
            <a:off x="548640" y="1371600"/>
            <a:ext cx="8138160" cy="3311237"/>
          </a:xfrm>
          <a:prstGeom prst="rect">
            <a:avLst/>
          </a:prstGeom>
        </p:spPr>
      </p:pic>
      <p:sp>
        <p:nvSpPr>
          <p:cNvPr id="6" name="card Migrations"/>
          <p:cNvSpPr/>
          <p:nvPr/>
        </p:nvSpPr>
        <p:spPr>
          <a:xfrm>
            <a:off x="8961120" y="1371600"/>
            <a:ext cx="2679192" cy="3311237"/>
          </a:xfrm>
          <a:prstGeom prst="roundRect">
            <a:avLst>
              <a:gd name="adj" fmla="val 2730"/>
            </a:avLst>
          </a:prstGeom>
          <a:solidFill>
            <a:schemeClr val="tx2"/>
          </a:solidFill>
          <a:ln w="12700">
            <a:solidFill>
              <a:srgbClr val="2C3260"/>
            </a:solidFill>
            <a:prstDash val="solid"/>
          </a:ln>
        </p:spPr>
      </p:sp>
      <p:sp>
        <p:nvSpPr>
          <p:cNvPr id="7" name="card text Migrations"/>
          <p:cNvSpPr txBox="1"/>
          <p:nvPr/>
        </p:nvSpPr>
        <p:spPr>
          <a:xfrm>
            <a:off x="9144000" y="1481328"/>
            <a:ext cx="2313432" cy="3091781"/>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Migrations</a:t>
            </a:r>
            <a:endParaRPr lang="en-US" sz="1700" dirty="0"/>
          </a:p>
          <a:p>
            <a:pPr indent="0" marL="0">
              <a:spcAft>
                <a:spcPts val="400"/>
              </a:spcAft>
              <a:buNone/>
            </a:pPr>
            <a:r>
              <a:rPr lang="en-US" sz="1400" dirty="0">
                <a:solidFill>
                  <a:schemeClr val="bg2"/>
                </a:solidFill>
              </a:rPr>
              <a:t>0001 creates the tasks table, 0002 seeds demo data. Rows 11 and 12 were created live in the demo.</a:t>
            </a:r>
            <a:endParaRPr lang="en-US" sz="1700" dirty="0"/>
          </a:p>
        </p:txBody>
      </p:sp>
      <p:sp>
        <p:nvSpPr>
          <p:cNvPr id="8" name="card /health: liveness"/>
          <p:cNvSpPr/>
          <p:nvPr/>
        </p:nvSpPr>
        <p:spPr>
          <a:xfrm>
            <a:off x="548640" y="4957157"/>
            <a:ext cx="5394960" cy="1306483"/>
          </a:xfrm>
          <a:prstGeom prst="roundRect">
            <a:avLst>
              <a:gd name="adj" fmla="val 5599"/>
            </a:avLst>
          </a:prstGeom>
          <a:solidFill>
            <a:schemeClr val="tx2"/>
          </a:solidFill>
          <a:ln w="12700">
            <a:solidFill>
              <a:srgbClr val="2C3260"/>
            </a:solidFill>
            <a:prstDash val="solid"/>
          </a:ln>
        </p:spPr>
      </p:sp>
      <p:sp>
        <p:nvSpPr>
          <p:cNvPr id="9" name="card text /health: liveness"/>
          <p:cNvSpPr txBox="1"/>
          <p:nvPr/>
        </p:nvSpPr>
        <p:spPr>
          <a:xfrm>
            <a:off x="731520" y="5066885"/>
            <a:ext cx="5029200" cy="1087027"/>
          </a:xfrm>
          <a:prstGeom prst="rect">
            <a:avLst/>
          </a:prstGeom>
          <a:noFill/>
          <a:ln/>
        </p:spPr>
        <p:txBody>
          <a:bodyPr wrap="square" lIns="0" tIns="0" rIns="0" bIns="0" rtlCol="0" anchor="t"/>
          <a:lstStyle/>
          <a:p>
            <a:pPr indent="0" marL="0">
              <a:spcAft>
                <a:spcPts val="400"/>
              </a:spcAft>
              <a:buNone/>
            </a:pPr>
            <a:r>
              <a:rPr lang="en-US" sz="1700" b="1" dirty="0">
                <a:solidFill>
                  <a:schemeClr val="accent5"/>
                </a:solidFill>
              </a:rPr>
              <a:t>/health: liveness</a:t>
            </a:r>
            <a:endParaRPr lang="en-US" sz="1700" dirty="0"/>
          </a:p>
          <a:p>
            <a:pPr indent="0" marL="0">
              <a:spcAft>
                <a:spcPts val="400"/>
              </a:spcAft>
              <a:buNone/>
            </a:pPr>
            <a:r>
              <a:rPr lang="en-US" sz="1400" dirty="0">
                <a:solidFill>
                  <a:schemeClr val="bg2"/>
                </a:solidFill>
              </a:rPr>
              <a:t>Cheap and never touches the database, so a DB outage does not restart every API Pod.</a:t>
            </a:r>
            <a:endParaRPr lang="en-US" sz="1700" dirty="0"/>
          </a:p>
        </p:txBody>
      </p:sp>
      <p:sp>
        <p:nvSpPr>
          <p:cNvPr id="10" name="card /ready: readiness"/>
          <p:cNvSpPr/>
          <p:nvPr/>
        </p:nvSpPr>
        <p:spPr>
          <a:xfrm>
            <a:off x="6245352" y="4957157"/>
            <a:ext cx="5394960" cy="1306483"/>
          </a:xfrm>
          <a:prstGeom prst="roundRect">
            <a:avLst>
              <a:gd name="adj" fmla="val 5599"/>
            </a:avLst>
          </a:prstGeom>
          <a:solidFill>
            <a:schemeClr val="tx2"/>
          </a:solidFill>
          <a:ln w="12700">
            <a:solidFill>
              <a:srgbClr val="2C3260"/>
            </a:solidFill>
            <a:prstDash val="solid"/>
          </a:ln>
        </p:spPr>
      </p:sp>
      <p:sp>
        <p:nvSpPr>
          <p:cNvPr id="11" name="card text /ready: readiness"/>
          <p:cNvSpPr txBox="1"/>
          <p:nvPr/>
        </p:nvSpPr>
        <p:spPr>
          <a:xfrm>
            <a:off x="6428232" y="5066885"/>
            <a:ext cx="5029200" cy="1087027"/>
          </a:xfrm>
          <a:prstGeom prst="rect">
            <a:avLst/>
          </a:prstGeom>
          <a:noFill/>
          <a:ln/>
        </p:spPr>
        <p:txBody>
          <a:bodyPr wrap="square" lIns="0" tIns="0" rIns="0" bIns="0" rtlCol="0" anchor="t"/>
          <a:lstStyle/>
          <a:p>
            <a:pPr indent="0" marL="0">
              <a:spcAft>
                <a:spcPts val="400"/>
              </a:spcAft>
              <a:buNone/>
            </a:pPr>
            <a:r>
              <a:rPr lang="en-US" sz="1700" b="1" dirty="0">
                <a:solidFill>
                  <a:schemeClr val="accent5"/>
                </a:solidFill>
              </a:rPr>
              <a:t>/ready: readiness</a:t>
            </a:r>
            <a:endParaRPr lang="en-US" sz="1700" dirty="0"/>
          </a:p>
          <a:p>
            <a:pPr indent="0" marL="0">
              <a:spcAft>
                <a:spcPts val="400"/>
              </a:spcAft>
              <a:buNone/>
            </a:pPr>
            <a:r>
              <a:rPr lang="en-US" sz="1400" dirty="0">
                <a:solidFill>
                  <a:schemeClr val="bg2"/>
                </a:solidFill>
              </a:rPr>
              <a:t>Runs SELECT 1 and returns 503 when PostgreSQL is unreachable; Kubernetes stops routing to that Pod.</a:t>
            </a:r>
            <a:endParaRPr lang="en-US" sz="17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200" b="1" spc="300" kern="0" dirty="0">
                <a:solidFill>
                  <a:schemeClr val="accent6"/>
                </a:solidFill>
              </a:rPr>
              <a:t>M2 · TESTING</a:t>
            </a:r>
            <a:endParaRPr lang="en-US" sz="1200" dirty="0"/>
          </a:p>
        </p:txBody>
      </p:sp>
      <p:sp>
        <p:nvSpPr>
          <p:cNvPr id="3" name="Text 0"/>
          <p:cNvSpPr/>
          <p:nvPr>
            <p:ph idx="101" type="title" hasCustomPrompt="1"/>
          </p:nvPr>
        </p:nvSpPr>
        <p:spPr>
          <a:xfrm>
            <a:off x="548640" y="548640"/>
            <a:ext cx="11064240" cy="640080"/>
          </a:xfrm>
          <a:prstGeom prst="rect">
            <a:avLst/>
          </a:prstGeom>
          <a:noFill/>
          <a:ln/>
        </p:spPr>
        <p:txBody>
          <a:bodyPr wrap="square" lIns="0" tIns="0" rIns="0" bIns="0" rtlCol="0" anchor="ctr"/>
          <a:lstStyle/>
          <a:p>
            <a:pPr algn="l" indent="0" marL="0">
              <a:buNone/>
            </a:pPr>
            <a:r>
              <a:rPr lang="en-US" sz="3200" b="1" dirty="0">
                <a:solidFill>
                  <a:schemeClr val="bg1"/>
                </a:solidFill>
              </a:rPr>
              <a:t>Pytest: the first quality gate</a:t>
            </a:r>
            <a:endParaRPr lang="en-US" sz="3200" dirty="0"/>
          </a:p>
        </p:txBody>
      </p:sp>
      <p:sp>
        <p:nvSpPr>
          <p:cNvPr id="4" name="pytest -v output: 22 passed frame"/>
          <p:cNvSpPr/>
          <p:nvPr/>
        </p:nvSpPr>
        <p:spPr>
          <a:xfrm>
            <a:off x="512064" y="1335024"/>
            <a:ext cx="5973322" cy="4965192"/>
          </a:xfrm>
          <a:prstGeom prst="roundRect">
            <a:avLst>
              <a:gd name="adj" fmla="val 1105"/>
            </a:avLst>
          </a:prstGeom>
          <a:solidFill>
            <a:schemeClr val="tx2"/>
          </a:solidFill>
          <a:ln w="12700">
            <a:solidFill>
              <a:srgbClr val="2C3260"/>
            </a:solidFill>
            <a:prstDash val="solid"/>
          </a:ln>
        </p:spPr>
      </p:sp>
      <p:pic>
        <p:nvPicPr>
          <p:cNvPr id="5" name="pytest -v output: 22 passed" descr="pytest -v output: 22 passed">    </p:cNvPr>
          <p:cNvPicPr>
            <a:picLocks noChangeAspect="1"/>
          </p:cNvPicPr>
          <p:nvPr/>
        </p:nvPicPr>
        <p:blipFill>
          <a:blip r:embed="rId1"/>
          <a:stretch>
            <a:fillRect/>
          </a:stretch>
        </p:blipFill>
        <p:spPr>
          <a:xfrm>
            <a:off x="548640" y="1371600"/>
            <a:ext cx="5900170" cy="4892040"/>
          </a:xfrm>
          <a:prstGeom prst="rect">
            <a:avLst/>
          </a:prstGeom>
        </p:spPr>
      </p:pic>
      <p:sp>
        <p:nvSpPr>
          <p:cNvPr id="6" name="stat in 0.60 s locally, 0.30 s in CI; pytest.ini + conftest.py"/>
          <p:cNvSpPr txBox="1"/>
          <p:nvPr/>
        </p:nvSpPr>
        <p:spPr>
          <a:xfrm>
            <a:off x="6949440" y="1417320"/>
            <a:ext cx="4663440" cy="731520"/>
          </a:xfrm>
          <a:prstGeom prst="rect">
            <a:avLst/>
          </a:prstGeom>
          <a:noFill/>
          <a:ln/>
        </p:spPr>
        <p:txBody>
          <a:bodyPr wrap="square" lIns="0" tIns="0" rIns="0" bIns="0" rtlCol="0" anchor="ctr"/>
          <a:lstStyle/>
          <a:p>
            <a:pPr indent="0" marL="0">
              <a:buNone/>
            </a:pPr>
            <a:r>
              <a:rPr lang="en-US" sz="4400" b="1" dirty="0">
                <a:solidFill>
                  <a:schemeClr val="accent2"/>
                </a:solidFill>
              </a:rPr>
              <a:t>22 passed</a:t>
            </a:r>
            <a:endParaRPr lang="en-US" sz="4400" dirty="0"/>
          </a:p>
        </p:txBody>
      </p:sp>
      <p:sp>
        <p:nvSpPr>
          <p:cNvPr id="7" name="stat label in 0.60 s locally, 0.30 s in CI; pytest.ini + conftest.py"/>
          <p:cNvSpPr txBox="1"/>
          <p:nvPr/>
        </p:nvSpPr>
        <p:spPr>
          <a:xfrm>
            <a:off x="6949440" y="2148840"/>
            <a:ext cx="4663440" cy="457200"/>
          </a:xfrm>
          <a:prstGeom prst="rect">
            <a:avLst/>
          </a:prstGeom>
          <a:noFill/>
          <a:ln/>
        </p:spPr>
        <p:txBody>
          <a:bodyPr wrap="square" lIns="0" tIns="0" rIns="0" bIns="0" rtlCol="0" anchor="t"/>
          <a:lstStyle/>
          <a:p>
            <a:pPr indent="0" marL="0">
              <a:buNone/>
            </a:pPr>
            <a:r>
              <a:rPr lang="en-US" sz="1400" dirty="0">
                <a:solidFill>
                  <a:schemeClr val="bg2"/>
                </a:solidFill>
              </a:rPr>
              <a:t>in 0.60 s locally, 0.30 s in CI; pytest.ini + conftest.py</a:t>
            </a:r>
            <a:endParaRPr lang="en-US" sz="1400" dirty="0"/>
          </a:p>
        </p:txBody>
      </p:sp>
      <p:sp>
        <p:nvSpPr>
          <p:cNvPr id="8" name="card Isolated"/>
          <p:cNvSpPr/>
          <p:nvPr/>
        </p:nvSpPr>
        <p:spPr>
          <a:xfrm>
            <a:off x="6949440" y="2880360"/>
            <a:ext cx="4690872" cy="1554480"/>
          </a:xfrm>
          <a:prstGeom prst="roundRect">
            <a:avLst>
              <a:gd name="adj" fmla="val 4706"/>
            </a:avLst>
          </a:prstGeom>
          <a:solidFill>
            <a:schemeClr val="tx2"/>
          </a:solidFill>
          <a:ln w="12700">
            <a:solidFill>
              <a:srgbClr val="2C3260"/>
            </a:solidFill>
            <a:prstDash val="solid"/>
          </a:ln>
        </p:spPr>
      </p:sp>
      <p:sp>
        <p:nvSpPr>
          <p:cNvPr id="9" name="card text Isolated"/>
          <p:cNvSpPr txBox="1"/>
          <p:nvPr/>
        </p:nvSpPr>
        <p:spPr>
          <a:xfrm>
            <a:off x="7132320" y="2990088"/>
            <a:ext cx="4325112" cy="1335024"/>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Isolated</a:t>
            </a:r>
            <a:endParaRPr lang="en-US" sz="1700" dirty="0"/>
          </a:p>
          <a:p>
            <a:pPr indent="0" marL="0">
              <a:spcAft>
                <a:spcPts val="400"/>
              </a:spcAft>
              <a:buNone/>
            </a:pPr>
            <a:r>
              <a:rPr lang="en-US" sz="1400" dirty="0">
                <a:solidFill>
                  <a:schemeClr val="bg2"/>
                </a:solidFill>
              </a:rPr>
              <a:t>In-memory SQLite via conftest.py, never the production database.</a:t>
            </a:r>
            <a:endParaRPr lang="en-US" sz="1700" dirty="0"/>
          </a:p>
        </p:txBody>
      </p:sp>
      <p:sp>
        <p:nvSpPr>
          <p:cNvPr id="10" name="card Coverage"/>
          <p:cNvSpPr/>
          <p:nvPr/>
        </p:nvSpPr>
        <p:spPr>
          <a:xfrm>
            <a:off x="6949440" y="4709160"/>
            <a:ext cx="4690872" cy="1554480"/>
          </a:xfrm>
          <a:prstGeom prst="roundRect">
            <a:avLst>
              <a:gd name="adj" fmla="val 4706"/>
            </a:avLst>
          </a:prstGeom>
          <a:solidFill>
            <a:schemeClr val="tx2"/>
          </a:solidFill>
          <a:ln w="12700">
            <a:solidFill>
              <a:srgbClr val="2C3260"/>
            </a:solidFill>
            <a:prstDash val="solid"/>
          </a:ln>
        </p:spPr>
      </p:sp>
      <p:sp>
        <p:nvSpPr>
          <p:cNvPr id="11" name="card text Coverage"/>
          <p:cNvSpPr txBox="1"/>
          <p:nvPr/>
        </p:nvSpPr>
        <p:spPr>
          <a:xfrm>
            <a:off x="7132320" y="4818888"/>
            <a:ext cx="4325112" cy="1335024"/>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Coverage</a:t>
            </a:r>
            <a:endParaRPr lang="en-US" sz="1700" dirty="0"/>
          </a:p>
          <a:p>
            <a:pPr indent="0" marL="0">
              <a:spcAft>
                <a:spcPts val="400"/>
              </a:spcAft>
              <a:buNone/>
            </a:pPr>
            <a:r>
              <a:rPr lang="en-US" sz="1400" dirty="0">
                <a:solidFill>
                  <a:schemeClr val="bg2"/>
                </a:solidFill>
              </a:rPr>
              <a:t>CRUD on every endpoint, 404/422 paths, filters, stats, probes (including a DB outage), metrics and the real migrations.</a:t>
            </a:r>
            <a:endParaRPr lang="en-US" sz="17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200" b="1" spc="300" kern="0" dirty="0">
                <a:solidFill>
                  <a:schemeClr val="accent6"/>
                </a:solidFill>
              </a:rPr>
              <a:t>M3 · GIT &amp; GITHUB</a:t>
            </a:r>
            <a:endParaRPr lang="en-US" sz="1200" dirty="0"/>
          </a:p>
        </p:txBody>
      </p:sp>
      <p:sp>
        <p:nvSpPr>
          <p:cNvPr id="3" name="Text 0"/>
          <p:cNvSpPr/>
          <p:nvPr>
            <p:ph idx="101" type="title" hasCustomPrompt="1"/>
          </p:nvPr>
        </p:nvSpPr>
        <p:spPr>
          <a:xfrm>
            <a:off x="548640" y="548640"/>
            <a:ext cx="11064240" cy="640080"/>
          </a:xfrm>
          <a:prstGeom prst="rect">
            <a:avLst/>
          </a:prstGeom>
          <a:noFill/>
          <a:ln/>
        </p:spPr>
        <p:txBody>
          <a:bodyPr wrap="square" lIns="0" tIns="0" rIns="0" bIns="0" rtlCol="0" anchor="ctr"/>
          <a:lstStyle/>
          <a:p>
            <a:pPr algn="l" indent="0" marL="0">
              <a:buNone/>
            </a:pPr>
            <a:r>
              <a:rPr lang="en-US" sz="3200" b="1" dirty="0">
                <a:solidFill>
                  <a:schemeClr val="bg1"/>
                </a:solidFill>
              </a:rPr>
              <a:t>Public repository, meaningful history</a:t>
            </a:r>
            <a:endParaRPr lang="en-US" sz="3200" dirty="0"/>
          </a:p>
        </p:txBody>
      </p:sp>
      <p:sp>
        <p:nvSpPr>
          <p:cNvPr id="4" name="GitHub commit history frame"/>
          <p:cNvSpPr/>
          <p:nvPr/>
        </p:nvSpPr>
        <p:spPr>
          <a:xfrm>
            <a:off x="512064" y="1569339"/>
            <a:ext cx="7936992" cy="4496562"/>
          </a:xfrm>
          <a:prstGeom prst="roundRect">
            <a:avLst>
              <a:gd name="adj" fmla="val 1220"/>
            </a:avLst>
          </a:prstGeom>
          <a:solidFill>
            <a:schemeClr val="tx2"/>
          </a:solidFill>
          <a:ln w="12700">
            <a:solidFill>
              <a:srgbClr val="2C3260"/>
            </a:solidFill>
            <a:prstDash val="solid"/>
          </a:ln>
        </p:spPr>
      </p:sp>
      <p:pic>
        <p:nvPicPr>
          <p:cNvPr id="5" name="GitHub commit history" descr="GitHub commit history">    </p:cNvPr>
          <p:cNvPicPr>
            <a:picLocks noChangeAspect="1"/>
          </p:cNvPicPr>
          <p:nvPr/>
        </p:nvPicPr>
        <p:blipFill>
          <a:blip r:embed="rId1"/>
          <a:stretch>
            <a:fillRect/>
          </a:stretch>
        </p:blipFill>
        <p:spPr>
          <a:xfrm>
            <a:off x="548640" y="1605915"/>
            <a:ext cx="7863840" cy="4423410"/>
          </a:xfrm>
          <a:prstGeom prst="rect">
            <a:avLst/>
          </a:prstGeom>
        </p:spPr>
      </p:pic>
      <p:sp>
        <p:nvSpPr>
          <p:cNvPr id="6" name="card 11 focused commits"/>
          <p:cNvSpPr/>
          <p:nvPr/>
        </p:nvSpPr>
        <p:spPr>
          <a:xfrm>
            <a:off x="8732520" y="1371600"/>
            <a:ext cx="2907792" cy="1828800"/>
          </a:xfrm>
          <a:prstGeom prst="roundRect">
            <a:avLst>
              <a:gd name="adj" fmla="val 4000"/>
            </a:avLst>
          </a:prstGeom>
          <a:solidFill>
            <a:schemeClr val="tx2"/>
          </a:solidFill>
          <a:ln w="12700">
            <a:solidFill>
              <a:srgbClr val="2C3260"/>
            </a:solidFill>
            <a:prstDash val="solid"/>
          </a:ln>
        </p:spPr>
      </p:sp>
      <p:sp>
        <p:nvSpPr>
          <p:cNvPr id="7" name="card text 11 focused commits"/>
          <p:cNvSpPr txBox="1"/>
          <p:nvPr/>
        </p:nvSpPr>
        <p:spPr>
          <a:xfrm>
            <a:off x="8915400" y="1481328"/>
            <a:ext cx="2542032" cy="1609344"/>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11 focused commits</a:t>
            </a:r>
            <a:endParaRPr lang="en-US" sz="1700" dirty="0"/>
          </a:p>
          <a:p>
            <a:pPr indent="0" marL="0">
              <a:spcAft>
                <a:spcPts val="400"/>
              </a:spcAft>
              <a:buNone/>
            </a:pPr>
            <a:r>
              <a:rPr lang="en-US" sz="1400" dirty="0">
                <a:solidFill>
                  <a:schemeClr val="bg2"/>
                </a:solidFill>
              </a:rPr>
              <a:t>One per layer: backend, tests, frontend, containers, pipeline, Terraform, Helm, monitoring, labs.</a:t>
            </a:r>
            <a:endParaRPr lang="en-US" sz="1700" dirty="0"/>
          </a:p>
        </p:txBody>
      </p:sp>
      <p:sp>
        <p:nvSpPr>
          <p:cNvPr id="8" name="card .gitignore"/>
          <p:cNvSpPr/>
          <p:nvPr/>
        </p:nvSpPr>
        <p:spPr>
          <a:xfrm>
            <a:off x="8732520" y="3429000"/>
            <a:ext cx="2907792" cy="2834640"/>
          </a:xfrm>
          <a:prstGeom prst="roundRect">
            <a:avLst>
              <a:gd name="adj" fmla="val 2581"/>
            </a:avLst>
          </a:prstGeom>
          <a:solidFill>
            <a:schemeClr val="tx2"/>
          </a:solidFill>
          <a:ln w="12700">
            <a:solidFill>
              <a:srgbClr val="2C3260"/>
            </a:solidFill>
            <a:prstDash val="solid"/>
          </a:ln>
        </p:spPr>
      </p:sp>
      <p:sp>
        <p:nvSpPr>
          <p:cNvPr id="9" name="card text .gitignore"/>
          <p:cNvSpPr txBox="1"/>
          <p:nvPr/>
        </p:nvSpPr>
        <p:spPr>
          <a:xfrm>
            <a:off x="8915400" y="3538728"/>
            <a:ext cx="2542032" cy="2615184"/>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.gitignore</a:t>
            </a:r>
            <a:endParaRPr lang="en-US" sz="1700" dirty="0"/>
          </a:p>
          <a:p>
            <a:pPr indent="0" marL="0">
              <a:spcAft>
                <a:spcPts val="400"/>
              </a:spcAft>
              <a:buNone/>
            </a:pPr>
            <a:r>
              <a:rPr lang="en-US" sz="1400" dirty="0">
                <a:solidFill>
                  <a:schemeClr val="bg2"/>
                </a:solidFill>
              </a:rPr>
              <a:t>.env and .env.*, __pycache__/, .venv/, node_modules/, .terraform/, *.tfstate and *.tfvars (only terraform.tfvars.example is committed).</a:t>
            </a:r>
            <a:endParaRPr lang="en-US" sz="17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200" b="1" spc="300" kern="0" dirty="0">
                <a:solidFill>
                  <a:schemeClr val="accent6"/>
                </a:solidFill>
              </a:rPr>
              <a:t>M4 · DOCKER</a:t>
            </a:r>
            <a:endParaRPr lang="en-US" sz="1200" dirty="0"/>
          </a:p>
        </p:txBody>
      </p:sp>
      <p:sp>
        <p:nvSpPr>
          <p:cNvPr id="3" name="Text 0"/>
          <p:cNvSpPr/>
          <p:nvPr>
            <p:ph idx="101" type="title" hasCustomPrompt="1"/>
          </p:nvPr>
        </p:nvSpPr>
        <p:spPr>
          <a:xfrm>
            <a:off x="548640" y="548640"/>
            <a:ext cx="11064240" cy="640080"/>
          </a:xfrm>
          <a:prstGeom prst="rect">
            <a:avLst/>
          </a:prstGeom>
          <a:noFill/>
          <a:ln/>
        </p:spPr>
        <p:txBody>
          <a:bodyPr wrap="square" lIns="0" tIns="0" rIns="0" bIns="0" rtlCol="0" anchor="ctr"/>
          <a:lstStyle/>
          <a:p>
            <a:pPr algn="l" indent="0" marL="0">
              <a:buNone/>
            </a:pPr>
            <a:r>
              <a:rPr lang="en-US" sz="3200" b="1" dirty="0">
                <a:solidFill>
                  <a:schemeClr val="bg1"/>
                </a:solidFill>
              </a:rPr>
              <a:t>Small, non-root images and one-command Compose</a:t>
            </a:r>
            <a:endParaRPr lang="en-US" sz="3200" dirty="0"/>
          </a:p>
        </p:txBody>
      </p:sp>
      <p:sp>
        <p:nvSpPr>
          <p:cNvPr id="4" name="Dockerfile excerpts frame"/>
          <p:cNvSpPr/>
          <p:nvPr/>
        </p:nvSpPr>
        <p:spPr>
          <a:xfrm>
            <a:off x="512064" y="1335024"/>
            <a:ext cx="6473952" cy="4457952"/>
          </a:xfrm>
          <a:prstGeom prst="roundRect">
            <a:avLst>
              <a:gd name="adj" fmla="val 1231"/>
            </a:avLst>
          </a:prstGeom>
          <a:solidFill>
            <a:schemeClr val="tx2"/>
          </a:solidFill>
          <a:ln w="12700">
            <a:solidFill>
              <a:srgbClr val="2C3260"/>
            </a:solidFill>
            <a:prstDash val="solid"/>
          </a:ln>
        </p:spPr>
      </p:sp>
      <p:pic>
        <p:nvPicPr>
          <p:cNvPr id="5" name="Dockerfile excerpts" descr="Dockerfile excerpts">    </p:cNvPr>
          <p:cNvPicPr>
            <a:picLocks noChangeAspect="1"/>
          </p:cNvPicPr>
          <p:nvPr/>
        </p:nvPicPr>
        <p:blipFill>
          <a:blip r:embed="rId1"/>
          <a:stretch>
            <a:fillRect/>
          </a:stretch>
        </p:blipFill>
        <p:spPr>
          <a:xfrm>
            <a:off x="548640" y="1371600"/>
            <a:ext cx="6400800" cy="4384800"/>
          </a:xfrm>
          <a:prstGeom prst="rect">
            <a:avLst/>
          </a:prstGeom>
        </p:spPr>
      </p:pic>
      <p:sp>
        <p:nvSpPr>
          <p:cNvPr id="6" name="docker images and id output frame"/>
          <p:cNvSpPr/>
          <p:nvPr/>
        </p:nvSpPr>
        <p:spPr>
          <a:xfrm>
            <a:off x="7187184" y="1335024"/>
            <a:ext cx="4489704" cy="1873048"/>
          </a:xfrm>
          <a:prstGeom prst="roundRect">
            <a:avLst>
              <a:gd name="adj" fmla="val 2929"/>
            </a:avLst>
          </a:prstGeom>
          <a:solidFill>
            <a:schemeClr val="tx2"/>
          </a:solidFill>
          <a:ln w="12700">
            <a:solidFill>
              <a:srgbClr val="2C3260"/>
            </a:solidFill>
            <a:prstDash val="solid"/>
          </a:ln>
        </p:spPr>
      </p:sp>
      <p:pic>
        <p:nvPicPr>
          <p:cNvPr id="7" name="docker images and id output" descr="docker images and id output">    </p:cNvPr>
          <p:cNvPicPr>
            <a:picLocks noChangeAspect="1"/>
          </p:cNvPicPr>
          <p:nvPr/>
        </p:nvPicPr>
        <p:blipFill>
          <a:blip r:embed="rId2"/>
          <a:stretch>
            <a:fillRect/>
          </a:stretch>
        </p:blipFill>
        <p:spPr>
          <a:xfrm>
            <a:off x="7223760" y="1371600"/>
            <a:ext cx="4416552" cy="1799896"/>
          </a:xfrm>
          <a:prstGeom prst="rect">
            <a:avLst/>
          </a:prstGeom>
        </p:spPr>
      </p:pic>
      <p:sp>
        <p:nvSpPr>
          <p:cNvPr id="8" name="card Multi-stage frontend"/>
          <p:cNvSpPr/>
          <p:nvPr/>
        </p:nvSpPr>
        <p:spPr>
          <a:xfrm>
            <a:off x="7223760" y="3445816"/>
            <a:ext cx="4416552" cy="1294612"/>
          </a:xfrm>
          <a:prstGeom prst="roundRect">
            <a:avLst>
              <a:gd name="adj" fmla="val 5650"/>
            </a:avLst>
          </a:prstGeom>
          <a:solidFill>
            <a:schemeClr val="tx2"/>
          </a:solidFill>
          <a:ln w="12700">
            <a:solidFill>
              <a:srgbClr val="2C3260"/>
            </a:solidFill>
            <a:prstDash val="solid"/>
          </a:ln>
        </p:spPr>
      </p:sp>
      <p:sp>
        <p:nvSpPr>
          <p:cNvPr id="9" name="card text Multi-stage frontend"/>
          <p:cNvSpPr txBox="1"/>
          <p:nvPr/>
        </p:nvSpPr>
        <p:spPr>
          <a:xfrm>
            <a:off x="7406640" y="3555544"/>
            <a:ext cx="4050792" cy="1075156"/>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Multi-stage frontend</a:t>
            </a:r>
            <a:endParaRPr lang="en-US" sz="1700" dirty="0"/>
          </a:p>
          <a:p>
            <a:pPr indent="0" marL="0">
              <a:spcAft>
                <a:spcPts val="400"/>
              </a:spcAft>
              <a:buNone/>
            </a:pPr>
            <a:r>
              <a:rPr lang="en-US" sz="1400" dirty="0">
                <a:solidFill>
                  <a:schemeClr val="bg2"/>
                </a:solidFill>
              </a:rPr>
              <a:t>Node builds the React app; only dist/ ships in unprivileged Nginx (UID 101).</a:t>
            </a:r>
            <a:endParaRPr lang="en-US" sz="1700" dirty="0"/>
          </a:p>
        </p:txBody>
      </p:sp>
      <p:sp>
        <p:nvSpPr>
          <p:cNvPr id="10" name="card docker compose up --build"/>
          <p:cNvSpPr/>
          <p:nvPr/>
        </p:nvSpPr>
        <p:spPr>
          <a:xfrm>
            <a:off x="7223760" y="4969028"/>
            <a:ext cx="4416552" cy="1294612"/>
          </a:xfrm>
          <a:prstGeom prst="roundRect">
            <a:avLst>
              <a:gd name="adj" fmla="val 5650"/>
            </a:avLst>
          </a:prstGeom>
          <a:solidFill>
            <a:schemeClr val="tx2"/>
          </a:solidFill>
          <a:ln w="12700">
            <a:solidFill>
              <a:srgbClr val="2C3260"/>
            </a:solidFill>
            <a:prstDash val="solid"/>
          </a:ln>
        </p:spPr>
      </p:sp>
      <p:sp>
        <p:nvSpPr>
          <p:cNvPr id="11" name="card text docker compose up --build"/>
          <p:cNvSpPr txBox="1"/>
          <p:nvPr/>
        </p:nvSpPr>
        <p:spPr>
          <a:xfrm>
            <a:off x="7406640" y="5078756"/>
            <a:ext cx="4050792" cy="1075156"/>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docker compose up --build</a:t>
            </a:r>
            <a:endParaRPr lang="en-US" sz="1700" dirty="0"/>
          </a:p>
          <a:p>
            <a:pPr indent="0" marL="0">
              <a:spcAft>
                <a:spcPts val="400"/>
              </a:spcAft>
              <a:buNone/>
            </a:pPr>
            <a:r>
              <a:rPr lang="en-US" sz="1400" dirty="0">
                <a:solidFill>
                  <a:schemeClr val="bg2"/>
                </a:solidFill>
              </a:rPr>
              <a:t>db, backend and frontend start in order, gated by health checks.</a:t>
            </a:r>
            <a:endParaRPr lang="en-US" sz="17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200" b="1" spc="300" kern="0" dirty="0">
                <a:solidFill>
                  <a:schemeClr val="accent6"/>
                </a:solidFill>
              </a:rPr>
              <a:t>M5 · CI/CD</a:t>
            </a:r>
            <a:endParaRPr lang="en-US" sz="1200" dirty="0"/>
          </a:p>
        </p:txBody>
      </p:sp>
      <p:sp>
        <p:nvSpPr>
          <p:cNvPr id="3" name="Text 0"/>
          <p:cNvSpPr/>
          <p:nvPr>
            <p:ph idx="101" type="title" hasCustomPrompt="1"/>
          </p:nvPr>
        </p:nvSpPr>
        <p:spPr>
          <a:xfrm>
            <a:off x="548640" y="548640"/>
            <a:ext cx="11064240" cy="640080"/>
          </a:xfrm>
          <a:prstGeom prst="rect">
            <a:avLst/>
          </a:prstGeom>
          <a:noFill/>
          <a:ln/>
        </p:spPr>
        <p:txBody>
          <a:bodyPr wrap="square" lIns="0" tIns="0" rIns="0" bIns="0" rtlCol="0" anchor="ctr"/>
          <a:lstStyle/>
          <a:p>
            <a:pPr algn="l" indent="0" marL="0">
              <a:buNone/>
            </a:pPr>
            <a:r>
              <a:rPr lang="en-US" sz="3200" b="1" dirty="0">
                <a:solidFill>
                  <a:schemeClr val="bg1"/>
                </a:solidFill>
              </a:rPr>
              <a:t>GitHub Actions: test → build, scan, push → deploy</a:t>
            </a:r>
            <a:endParaRPr lang="en-US" sz="3200" dirty="0"/>
          </a:p>
        </p:txBody>
      </p:sp>
      <p:sp>
        <p:nvSpPr>
          <p:cNvPr id="4" name="Green CI/CD run on main frame"/>
          <p:cNvSpPr/>
          <p:nvPr/>
        </p:nvSpPr>
        <p:spPr>
          <a:xfrm>
            <a:off x="512064" y="1569339"/>
            <a:ext cx="7936992" cy="4496562"/>
          </a:xfrm>
          <a:prstGeom prst="roundRect">
            <a:avLst>
              <a:gd name="adj" fmla="val 1220"/>
            </a:avLst>
          </a:prstGeom>
          <a:solidFill>
            <a:schemeClr val="tx2"/>
          </a:solidFill>
          <a:ln w="12700">
            <a:solidFill>
              <a:srgbClr val="2C3260"/>
            </a:solidFill>
            <a:prstDash val="solid"/>
          </a:ln>
        </p:spPr>
      </p:sp>
      <p:pic>
        <p:nvPicPr>
          <p:cNvPr id="5" name="Green CI/CD run on main" descr="Green CI/CD run on main">    </p:cNvPr>
          <p:cNvPicPr>
            <a:picLocks noChangeAspect="1"/>
          </p:cNvPicPr>
          <p:nvPr/>
        </p:nvPicPr>
        <p:blipFill>
          <a:blip r:embed="rId1"/>
          <a:stretch>
            <a:fillRect/>
          </a:stretch>
        </p:blipFill>
        <p:spPr>
          <a:xfrm>
            <a:off x="548640" y="1605915"/>
            <a:ext cx="7863840" cy="4423410"/>
          </a:xfrm>
          <a:prstGeom prst="rect">
            <a:avLst/>
          </a:prstGeom>
        </p:spPr>
      </p:pic>
      <p:sp>
        <p:nvSpPr>
          <p:cNvPr id="6" name="card 1. Test"/>
          <p:cNvSpPr/>
          <p:nvPr/>
        </p:nvSpPr>
        <p:spPr>
          <a:xfrm>
            <a:off x="8732520" y="1371600"/>
            <a:ext cx="2907792" cy="1417320"/>
          </a:xfrm>
          <a:prstGeom prst="roundRect">
            <a:avLst>
              <a:gd name="adj" fmla="val 5161"/>
            </a:avLst>
          </a:prstGeom>
          <a:solidFill>
            <a:schemeClr val="tx2"/>
          </a:solidFill>
          <a:ln w="12700">
            <a:solidFill>
              <a:srgbClr val="2C3260"/>
            </a:solidFill>
            <a:prstDash val="solid"/>
          </a:ln>
        </p:spPr>
      </p:sp>
      <p:sp>
        <p:nvSpPr>
          <p:cNvPr id="7" name="card text 1. Test"/>
          <p:cNvSpPr txBox="1"/>
          <p:nvPr/>
        </p:nvSpPr>
        <p:spPr>
          <a:xfrm>
            <a:off x="8915400" y="1481328"/>
            <a:ext cx="2542032" cy="1197864"/>
          </a:xfrm>
          <a:prstGeom prst="rect">
            <a:avLst/>
          </a:prstGeom>
          <a:noFill/>
          <a:ln/>
        </p:spPr>
        <p:txBody>
          <a:bodyPr wrap="square" lIns="0" tIns="0" rIns="0" bIns="0" rtlCol="0" anchor="t"/>
          <a:lstStyle/>
          <a:p>
            <a:pPr indent="0" marL="0">
              <a:spcAft>
                <a:spcPts val="400"/>
              </a:spcAft>
              <a:buNone/>
            </a:pPr>
            <a:r>
              <a:rPr lang="en-US" sz="1700" b="1" dirty="0">
                <a:solidFill>
                  <a:schemeClr val="accent2"/>
                </a:solidFill>
              </a:rPr>
              <a:t>1. Test</a:t>
            </a:r>
            <a:endParaRPr lang="en-US" sz="1700" dirty="0"/>
          </a:p>
          <a:p>
            <a:pPr indent="0" marL="0">
              <a:spcAft>
                <a:spcPts val="400"/>
              </a:spcAft>
              <a:buNone/>
            </a:pPr>
            <a:r>
              <a:rPr lang="en-US" sz="1400" dirty="0">
                <a:solidFill>
                  <a:schemeClr val="bg2"/>
                </a:solidFill>
              </a:rPr>
              <a:t>18 s · pytest + React build</a:t>
            </a:r>
            <a:endParaRPr lang="en-US" sz="1700" dirty="0"/>
          </a:p>
        </p:txBody>
      </p:sp>
      <p:sp>
        <p:nvSpPr>
          <p:cNvPr id="8" name="arrow 0"/>
          <p:cNvSpPr txBox="1"/>
          <p:nvPr/>
        </p:nvSpPr>
        <p:spPr>
          <a:xfrm>
            <a:off x="8732520" y="2770632"/>
            <a:ext cx="2907792" cy="292608"/>
          </a:xfrm>
          <a:prstGeom prst="rect">
            <a:avLst/>
          </a:prstGeom>
          <a:noFill/>
          <a:ln/>
        </p:spPr>
        <p:txBody>
          <a:bodyPr wrap="square" lIns="0" tIns="0" rIns="0" bIns="0" rtlCol="0" anchor="ctr"/>
          <a:lstStyle/>
          <a:p>
            <a:pPr algn="ctr" indent="0" marL="0">
              <a:buNone/>
            </a:pPr>
            <a:r>
              <a:rPr lang="en-US" sz="1800" dirty="0">
                <a:solidFill>
                  <a:schemeClr val="accent1"/>
                </a:solidFill>
              </a:rPr>
              <a:t>↓</a:t>
            </a:r>
            <a:endParaRPr lang="en-US" sz="1800" dirty="0"/>
          </a:p>
        </p:txBody>
      </p:sp>
      <p:sp>
        <p:nvSpPr>
          <p:cNvPr id="9" name="card 2. Build · scan · push"/>
          <p:cNvSpPr/>
          <p:nvPr/>
        </p:nvSpPr>
        <p:spPr>
          <a:xfrm>
            <a:off x="8732520" y="3063240"/>
            <a:ext cx="2907792" cy="1417320"/>
          </a:xfrm>
          <a:prstGeom prst="roundRect">
            <a:avLst>
              <a:gd name="adj" fmla="val 5161"/>
            </a:avLst>
          </a:prstGeom>
          <a:solidFill>
            <a:schemeClr val="tx2"/>
          </a:solidFill>
          <a:ln w="12700">
            <a:solidFill>
              <a:srgbClr val="2C3260"/>
            </a:solidFill>
            <a:prstDash val="solid"/>
          </a:ln>
        </p:spPr>
      </p:sp>
      <p:sp>
        <p:nvSpPr>
          <p:cNvPr id="10" name="card text 2. Build · scan · push"/>
          <p:cNvSpPr txBox="1"/>
          <p:nvPr/>
        </p:nvSpPr>
        <p:spPr>
          <a:xfrm>
            <a:off x="8915400" y="3172968"/>
            <a:ext cx="2542032" cy="1197864"/>
          </a:xfrm>
          <a:prstGeom prst="rect">
            <a:avLst/>
          </a:prstGeom>
          <a:noFill/>
          <a:ln/>
        </p:spPr>
        <p:txBody>
          <a:bodyPr wrap="square" lIns="0" tIns="0" rIns="0" bIns="0" rtlCol="0" anchor="t"/>
          <a:lstStyle/>
          <a:p>
            <a:pPr indent="0" marL="0">
              <a:spcAft>
                <a:spcPts val="400"/>
              </a:spcAft>
              <a:buNone/>
            </a:pPr>
            <a:r>
              <a:rPr lang="en-US" sz="1700" b="1" dirty="0">
                <a:solidFill>
                  <a:schemeClr val="accent2"/>
                </a:solidFill>
              </a:rPr>
              <a:t>2. Build · scan · push</a:t>
            </a:r>
            <a:endParaRPr lang="en-US" sz="1700" dirty="0"/>
          </a:p>
          <a:p>
            <a:pPr indent="0" marL="0">
              <a:spcAft>
                <a:spcPts val="400"/>
              </a:spcAft>
              <a:buNone/>
            </a:pPr>
            <a:r>
              <a:rPr lang="en-US" sz="1400" dirty="0">
                <a:solidFill>
                  <a:schemeClr val="bg2"/>
                </a:solidFill>
              </a:rPr>
              <a:t>1 m 6 s · Docker build, Trivy, push to GHCR</a:t>
            </a:r>
            <a:endParaRPr lang="en-US" sz="1700" dirty="0"/>
          </a:p>
        </p:txBody>
      </p:sp>
      <p:sp>
        <p:nvSpPr>
          <p:cNvPr id="11" name="arrow 1"/>
          <p:cNvSpPr txBox="1"/>
          <p:nvPr/>
        </p:nvSpPr>
        <p:spPr>
          <a:xfrm>
            <a:off x="8732520" y="4462272"/>
            <a:ext cx="2907792" cy="292608"/>
          </a:xfrm>
          <a:prstGeom prst="rect">
            <a:avLst/>
          </a:prstGeom>
          <a:noFill/>
          <a:ln/>
        </p:spPr>
        <p:txBody>
          <a:bodyPr wrap="square" lIns="0" tIns="0" rIns="0" bIns="0" rtlCol="0" anchor="ctr"/>
          <a:lstStyle/>
          <a:p>
            <a:pPr algn="ctr" indent="0" marL="0">
              <a:buNone/>
            </a:pPr>
            <a:r>
              <a:rPr lang="en-US" sz="1800" dirty="0">
                <a:solidFill>
                  <a:schemeClr val="accent1"/>
                </a:solidFill>
              </a:rPr>
              <a:t>↓</a:t>
            </a:r>
            <a:endParaRPr lang="en-US" sz="1800" dirty="0"/>
          </a:p>
        </p:txBody>
      </p:sp>
      <p:sp>
        <p:nvSpPr>
          <p:cNvPr id="12" name="card 3. Deploy to EKS"/>
          <p:cNvSpPr/>
          <p:nvPr/>
        </p:nvSpPr>
        <p:spPr>
          <a:xfrm>
            <a:off x="8732520" y="4754880"/>
            <a:ext cx="2907792" cy="1417320"/>
          </a:xfrm>
          <a:prstGeom prst="roundRect">
            <a:avLst>
              <a:gd name="adj" fmla="val 5161"/>
            </a:avLst>
          </a:prstGeom>
          <a:solidFill>
            <a:schemeClr val="tx2"/>
          </a:solidFill>
          <a:ln w="12700">
            <a:solidFill>
              <a:srgbClr val="2C3260"/>
            </a:solidFill>
            <a:prstDash val="solid"/>
          </a:ln>
        </p:spPr>
      </p:sp>
      <p:sp>
        <p:nvSpPr>
          <p:cNvPr id="13" name="card text 3. Deploy to EKS"/>
          <p:cNvSpPr txBox="1"/>
          <p:nvPr/>
        </p:nvSpPr>
        <p:spPr>
          <a:xfrm>
            <a:off x="8915400" y="4864608"/>
            <a:ext cx="2542032" cy="1197864"/>
          </a:xfrm>
          <a:prstGeom prst="rect">
            <a:avLst/>
          </a:prstGeom>
          <a:noFill/>
          <a:ln/>
        </p:spPr>
        <p:txBody>
          <a:bodyPr wrap="square" lIns="0" tIns="0" rIns="0" bIns="0" rtlCol="0" anchor="t"/>
          <a:lstStyle/>
          <a:p>
            <a:pPr indent="0" marL="0">
              <a:spcAft>
                <a:spcPts val="400"/>
              </a:spcAft>
              <a:buNone/>
            </a:pPr>
            <a:r>
              <a:rPr lang="en-US" sz="1700" b="1" dirty="0">
                <a:solidFill>
                  <a:schemeClr val="accent3"/>
                </a:solidFill>
              </a:rPr>
              <a:t>3. Deploy to EKS</a:t>
            </a:r>
            <a:endParaRPr lang="en-US" sz="1700" dirty="0"/>
          </a:p>
          <a:p>
            <a:pPr indent="0" marL="0">
              <a:spcAft>
                <a:spcPts val="400"/>
              </a:spcAft>
              <a:buNone/>
            </a:pPr>
            <a:r>
              <a:rPr lang="en-US" sz="1400" dirty="0">
                <a:solidFill>
                  <a:schemeClr val="bg2"/>
                </a:solidFill>
              </a:rPr>
              <a:t>3 s · helm upgrade --install; skipped until AWS secrets exist</a:t>
            </a:r>
            <a:endParaRPr lang="en-US" sz="17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200" b="1" spc="300" kern="0" dirty="0">
                <a:solidFill>
                  <a:schemeClr val="accent6"/>
                </a:solidFill>
              </a:rPr>
              <a:t>M5 · CI/CD</a:t>
            </a:r>
            <a:endParaRPr lang="en-US" sz="1200" dirty="0"/>
          </a:p>
        </p:txBody>
      </p:sp>
      <p:sp>
        <p:nvSpPr>
          <p:cNvPr id="3" name="Text 0"/>
          <p:cNvSpPr/>
          <p:nvPr>
            <p:ph idx="101" type="title" hasCustomPrompt="1"/>
          </p:nvPr>
        </p:nvSpPr>
        <p:spPr>
          <a:xfrm>
            <a:off x="548640" y="548640"/>
            <a:ext cx="11064240" cy="640080"/>
          </a:xfrm>
          <a:prstGeom prst="rect">
            <a:avLst/>
          </a:prstGeom>
          <a:noFill/>
          <a:ln/>
        </p:spPr>
        <p:txBody>
          <a:bodyPr wrap="square" lIns="0" tIns="0" rIns="0" bIns="0" rtlCol="0" anchor="ctr"/>
          <a:lstStyle/>
          <a:p>
            <a:pPr algn="l" indent="0" marL="0">
              <a:buNone/>
            </a:pPr>
            <a:r>
              <a:rPr lang="en-US" sz="3200" b="1" dirty="0">
                <a:solidFill>
                  <a:schemeClr val="bg1"/>
                </a:solidFill>
              </a:rPr>
              <a:t>Every image is tagged with its commit SHA</a:t>
            </a:r>
            <a:endParaRPr lang="en-US" sz="3200" dirty="0"/>
          </a:p>
        </p:txBody>
      </p:sp>
      <p:sp>
        <p:nvSpPr>
          <p:cNvPr id="4" name="CI log excerpt frame"/>
          <p:cNvSpPr/>
          <p:nvPr/>
        </p:nvSpPr>
        <p:spPr>
          <a:xfrm>
            <a:off x="512064" y="1335024"/>
            <a:ext cx="11164824" cy="2872825"/>
          </a:xfrm>
          <a:prstGeom prst="roundRect">
            <a:avLst>
              <a:gd name="adj" fmla="val 1910"/>
            </a:avLst>
          </a:prstGeom>
          <a:solidFill>
            <a:schemeClr val="tx2"/>
          </a:solidFill>
          <a:ln w="12700">
            <a:solidFill>
              <a:srgbClr val="2C3260"/>
            </a:solidFill>
            <a:prstDash val="solid"/>
          </a:ln>
        </p:spPr>
      </p:sp>
      <p:pic>
        <p:nvPicPr>
          <p:cNvPr id="5" name="CI log excerpt" descr="CI log excerpt">    </p:cNvPr>
          <p:cNvPicPr>
            <a:picLocks noChangeAspect="1"/>
          </p:cNvPicPr>
          <p:nvPr/>
        </p:nvPicPr>
        <p:blipFill>
          <a:blip r:embed="rId1"/>
          <a:stretch>
            <a:fillRect/>
          </a:stretch>
        </p:blipFill>
        <p:spPr>
          <a:xfrm>
            <a:off x="548640" y="1371600"/>
            <a:ext cx="11091672" cy="2799673"/>
          </a:xfrm>
          <a:prstGeom prst="rect">
            <a:avLst/>
          </a:prstGeom>
        </p:spPr>
      </p:pic>
      <p:sp>
        <p:nvSpPr>
          <p:cNvPr id="6" name="card Triggers"/>
          <p:cNvSpPr/>
          <p:nvPr/>
        </p:nvSpPr>
        <p:spPr>
          <a:xfrm>
            <a:off x="548640" y="4572000"/>
            <a:ext cx="3520440" cy="1691640"/>
          </a:xfrm>
          <a:prstGeom prst="roundRect">
            <a:avLst>
              <a:gd name="adj" fmla="val 4324"/>
            </a:avLst>
          </a:prstGeom>
          <a:solidFill>
            <a:schemeClr val="tx2"/>
          </a:solidFill>
          <a:ln w="12700">
            <a:solidFill>
              <a:srgbClr val="2C3260"/>
            </a:solidFill>
            <a:prstDash val="solid"/>
          </a:ln>
        </p:spPr>
      </p:sp>
      <p:sp>
        <p:nvSpPr>
          <p:cNvPr id="7" name="card text Triggers"/>
          <p:cNvSpPr txBox="1"/>
          <p:nvPr/>
        </p:nvSpPr>
        <p:spPr>
          <a:xfrm>
            <a:off x="731520" y="4681728"/>
            <a:ext cx="3154680" cy="1472184"/>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Triggers</a:t>
            </a:r>
            <a:endParaRPr lang="en-US" sz="1700" dirty="0"/>
          </a:p>
          <a:p>
            <a:pPr indent="0" marL="0">
              <a:spcAft>
                <a:spcPts val="400"/>
              </a:spcAft>
              <a:buNone/>
            </a:pPr>
            <a:r>
              <a:rPr lang="en-US" sz="1400" dirty="0">
                <a:solidFill>
                  <a:schemeClr val="bg2"/>
                </a:solidFill>
              </a:rPr>
              <a:t>Every push and pull request to main. PRs build and scan but never push.</a:t>
            </a:r>
            <a:endParaRPr lang="en-US" sz="1700" dirty="0"/>
          </a:p>
        </p:txBody>
      </p:sp>
      <p:sp>
        <p:nvSpPr>
          <p:cNvPr id="8" name="card No latest tag"/>
          <p:cNvSpPr/>
          <p:nvPr/>
        </p:nvSpPr>
        <p:spPr>
          <a:xfrm>
            <a:off x="4334256" y="4572000"/>
            <a:ext cx="3520440" cy="1691640"/>
          </a:xfrm>
          <a:prstGeom prst="roundRect">
            <a:avLst>
              <a:gd name="adj" fmla="val 4324"/>
            </a:avLst>
          </a:prstGeom>
          <a:solidFill>
            <a:schemeClr val="tx2"/>
          </a:solidFill>
          <a:ln w="12700">
            <a:solidFill>
              <a:srgbClr val="2C3260"/>
            </a:solidFill>
            <a:prstDash val="solid"/>
          </a:ln>
        </p:spPr>
      </p:sp>
      <p:sp>
        <p:nvSpPr>
          <p:cNvPr id="9" name="card text No latest tag"/>
          <p:cNvSpPr txBox="1"/>
          <p:nvPr/>
        </p:nvSpPr>
        <p:spPr>
          <a:xfrm>
            <a:off x="4517136" y="4681728"/>
            <a:ext cx="3154680" cy="1472184"/>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No latest tag</a:t>
            </a:r>
            <a:endParaRPr lang="en-US" sz="1700" dirty="0"/>
          </a:p>
          <a:p>
            <a:pPr indent="0" marL="0">
              <a:spcAft>
                <a:spcPts val="400"/>
              </a:spcAft>
              <a:buNone/>
            </a:pPr>
            <a:r>
              <a:rPr lang="en-US" sz="1400" dirty="0">
                <a:solidFill>
                  <a:schemeClr val="bg2"/>
                </a:solidFill>
              </a:rPr>
              <a:t>commit A → image A. Any running Pod traces back to its source commit.</a:t>
            </a:r>
            <a:endParaRPr lang="en-US" sz="1700" dirty="0"/>
          </a:p>
        </p:txBody>
      </p:sp>
      <p:sp>
        <p:nvSpPr>
          <p:cNvPr id="10" name="card Gated jobs"/>
          <p:cNvSpPr/>
          <p:nvPr/>
        </p:nvSpPr>
        <p:spPr>
          <a:xfrm>
            <a:off x="8119872" y="4572000"/>
            <a:ext cx="3520440" cy="1691640"/>
          </a:xfrm>
          <a:prstGeom prst="roundRect">
            <a:avLst>
              <a:gd name="adj" fmla="val 4324"/>
            </a:avLst>
          </a:prstGeom>
          <a:solidFill>
            <a:schemeClr val="tx2"/>
          </a:solidFill>
          <a:ln w="12700">
            <a:solidFill>
              <a:srgbClr val="2C3260"/>
            </a:solidFill>
            <a:prstDash val="solid"/>
          </a:ln>
        </p:spPr>
      </p:sp>
      <p:sp>
        <p:nvSpPr>
          <p:cNvPr id="11" name="card text Gated jobs"/>
          <p:cNvSpPr txBox="1"/>
          <p:nvPr/>
        </p:nvSpPr>
        <p:spPr>
          <a:xfrm>
            <a:off x="8302752" y="4681728"/>
            <a:ext cx="3154680" cy="1472184"/>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Gated jobs</a:t>
            </a:r>
            <a:endParaRPr lang="en-US" sz="1700" dirty="0"/>
          </a:p>
          <a:p>
            <a:pPr indent="0" marL="0">
              <a:spcAft>
                <a:spcPts val="400"/>
              </a:spcAft>
              <a:buNone/>
            </a:pPr>
            <a:r>
              <a:rPr lang="en-US" sz="1400" dirty="0">
                <a:solidFill>
                  <a:schemeClr val="bg2"/>
                </a:solidFill>
              </a:rPr>
              <a:t>needs: test → needs: build-scan-push. A failing test stops everything.</a:t>
            </a:r>
            <a:endParaRPr lang="en-US" sz="17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200" b="1" spc="300" kern="0" dirty="0">
                <a:solidFill>
                  <a:schemeClr val="accent6"/>
                </a:solidFill>
              </a:rPr>
              <a:t>M6 · DEVSECOPS</a:t>
            </a:r>
            <a:endParaRPr lang="en-US" sz="1200" dirty="0"/>
          </a:p>
        </p:txBody>
      </p:sp>
      <p:sp>
        <p:nvSpPr>
          <p:cNvPr id="3" name="Text 0"/>
          <p:cNvSpPr/>
          <p:nvPr>
            <p:ph idx="101" type="title" hasCustomPrompt="1"/>
          </p:nvPr>
        </p:nvSpPr>
        <p:spPr>
          <a:xfrm>
            <a:off x="548640" y="548640"/>
            <a:ext cx="11064240" cy="640080"/>
          </a:xfrm>
          <a:prstGeom prst="rect">
            <a:avLst/>
          </a:prstGeom>
          <a:noFill/>
          <a:ln/>
        </p:spPr>
        <p:txBody>
          <a:bodyPr wrap="square" lIns="0" tIns="0" rIns="0" bIns="0" rtlCol="0" anchor="ctr"/>
          <a:lstStyle/>
          <a:p>
            <a:pPr algn="l" indent="0" marL="0">
              <a:buNone/>
            </a:pPr>
            <a:r>
              <a:rPr lang="en-US" sz="3200" b="1" dirty="0">
                <a:solidFill>
                  <a:schemeClr val="bg1"/>
                </a:solidFill>
              </a:rPr>
              <a:t>Trivy blocks HIGH and CRITICAL CVEs</a:t>
            </a:r>
            <a:endParaRPr lang="en-US" sz="3200" dirty="0"/>
          </a:p>
        </p:txBody>
      </p:sp>
      <p:sp>
        <p:nvSpPr>
          <p:cNvPr id="4" name="Trivy scan tables from CI frame"/>
          <p:cNvSpPr/>
          <p:nvPr/>
        </p:nvSpPr>
        <p:spPr>
          <a:xfrm>
            <a:off x="512064" y="1335024"/>
            <a:ext cx="7845552" cy="3401603"/>
          </a:xfrm>
          <a:prstGeom prst="roundRect">
            <a:avLst>
              <a:gd name="adj" fmla="val 1613"/>
            </a:avLst>
          </a:prstGeom>
          <a:solidFill>
            <a:schemeClr val="tx2"/>
          </a:solidFill>
          <a:ln w="12700">
            <a:solidFill>
              <a:srgbClr val="2C3260"/>
            </a:solidFill>
            <a:prstDash val="solid"/>
          </a:ln>
        </p:spPr>
      </p:sp>
      <p:pic>
        <p:nvPicPr>
          <p:cNvPr id="5" name="Trivy scan tables from CI" descr="Trivy scan tables from CI">    </p:cNvPr>
          <p:cNvPicPr>
            <a:picLocks noChangeAspect="1"/>
          </p:cNvPicPr>
          <p:nvPr/>
        </p:nvPicPr>
        <p:blipFill>
          <a:blip r:embed="rId1"/>
          <a:stretch>
            <a:fillRect/>
          </a:stretch>
        </p:blipFill>
        <p:spPr>
          <a:xfrm>
            <a:off x="548640" y="1371600"/>
            <a:ext cx="7772400" cy="3328451"/>
          </a:xfrm>
          <a:prstGeom prst="rect">
            <a:avLst/>
          </a:prstGeom>
        </p:spPr>
      </p:pic>
      <p:sp>
        <p:nvSpPr>
          <p:cNvPr id="6" name="card Gate config"/>
          <p:cNvSpPr/>
          <p:nvPr/>
        </p:nvSpPr>
        <p:spPr>
          <a:xfrm>
            <a:off x="8595360" y="1371600"/>
            <a:ext cx="3044952" cy="3328451"/>
          </a:xfrm>
          <a:prstGeom prst="roundRect">
            <a:avLst>
              <a:gd name="adj" fmla="val 2402"/>
            </a:avLst>
          </a:prstGeom>
          <a:solidFill>
            <a:schemeClr val="tx2"/>
          </a:solidFill>
          <a:ln w="12700">
            <a:solidFill>
              <a:srgbClr val="2C3260"/>
            </a:solidFill>
            <a:prstDash val="solid"/>
          </a:ln>
        </p:spPr>
      </p:sp>
      <p:sp>
        <p:nvSpPr>
          <p:cNvPr id="7" name="card text Gate config"/>
          <p:cNvSpPr txBox="1"/>
          <p:nvPr/>
        </p:nvSpPr>
        <p:spPr>
          <a:xfrm>
            <a:off x="8778240" y="1481328"/>
            <a:ext cx="2679192" cy="3108995"/>
          </a:xfrm>
          <a:prstGeom prst="rect">
            <a:avLst/>
          </a:prstGeom>
          <a:noFill/>
          <a:ln/>
        </p:spPr>
        <p:txBody>
          <a:bodyPr wrap="square" lIns="0" tIns="0" rIns="0" bIns="0" rtlCol="0" anchor="t"/>
          <a:lstStyle/>
          <a:p>
            <a:pPr indent="0" marL="0">
              <a:spcAft>
                <a:spcPts val="400"/>
              </a:spcAft>
              <a:buNone/>
            </a:pPr>
            <a:r>
              <a:rPr lang="en-US" sz="1700" b="1" dirty="0">
                <a:solidFill>
                  <a:schemeClr val="accent3"/>
                </a:solidFill>
              </a:rPr>
              <a:t>Gate config</a:t>
            </a:r>
            <a:endParaRPr lang="en-US" sz="1700" dirty="0"/>
          </a:p>
          <a:p>
            <a:pPr indent="0" marL="0">
              <a:spcAft>
                <a:spcPts val="400"/>
              </a:spcAft>
              <a:buNone/>
            </a:pPr>
            <a:r>
              <a:rPr lang="en-US" sz="1400" dirty="0">
                <a:solidFill>
                  <a:schemeClr val="bg2"/>
                </a:solidFill>
              </a:rPr>
              <a:t>severity: HIGH,CRITICAL; ignore-unfixed: true; exit-code: 1 fails the build. The action is pinned to a full commit SHA.</a:t>
            </a:r>
            <a:endParaRPr lang="en-US" sz="1700" dirty="0"/>
          </a:p>
        </p:txBody>
      </p:sp>
      <p:sp>
        <p:nvSpPr>
          <p:cNvPr id="8" name="trivy explanation"/>
          <p:cNvSpPr txBox="1"/>
          <p:nvPr/>
        </p:nvSpPr>
        <p:spPr>
          <a:xfrm>
            <a:off x="548640" y="4974371"/>
            <a:ext cx="11091672" cy="1289269"/>
          </a:xfrm>
          <a:prstGeom prst="rect">
            <a:avLst/>
          </a:prstGeom>
          <a:noFill/>
          <a:ln/>
        </p:spPr>
        <p:txBody>
          <a:bodyPr wrap="square" lIns="0" tIns="0" rIns="0" bIns="0" rtlCol="0" anchor="t"/>
          <a:lstStyle/>
          <a:p>
            <a:pPr indent="0" marL="0">
              <a:buNone/>
            </a:pPr>
            <a:r>
              <a:rPr lang="en-US" sz="1600" b="1" dirty="0">
                <a:solidFill>
                  <a:schemeClr val="bg1"/>
                </a:solidFill>
              </a:rPr>
              <a:t>What it scanned and what it means. </a:t>
            </a:r>
            <a:pPr indent="0" marL="0">
              <a:buNone/>
            </a:pPr>
            <a:r>
              <a:rPr lang="en-US" sz="1600" dirty="0">
                <a:solidFill>
                  <a:schemeClr val="bg2"/>
                </a:solidFill>
              </a:rPr>
              <a:t>Trivy scanned the OS packages of both images (Debian 13.7 for the backend, Alpine 3.24 for the frontend) and every Python package in the backend. It found zero fixable HIGH or CRITICAL vulnerabilities, so the gate passed; a single finding would exit with code 1 and stop the pipeline before the push. The clean result comes from applying Debian security updates in the Dockerfile and removing pip, whose vendored libraries carried HIGH CVEs.</a:t>
            </a:r>
            <a:endParaRPr lang="en-US" sz="16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200" b="1" spc="300" kern="0" dirty="0">
                <a:solidFill>
                  <a:schemeClr val="accent6"/>
                </a:solidFill>
              </a:rPr>
              <a:t>M5 · REGISTRY</a:t>
            </a:r>
            <a:endParaRPr lang="en-US" sz="1200" dirty="0"/>
          </a:p>
        </p:txBody>
      </p:sp>
      <p:sp>
        <p:nvSpPr>
          <p:cNvPr id="3" name="Text 0"/>
          <p:cNvSpPr/>
          <p:nvPr>
            <p:ph idx="101" type="title" hasCustomPrompt="1"/>
          </p:nvPr>
        </p:nvSpPr>
        <p:spPr>
          <a:xfrm>
            <a:off x="548640" y="548640"/>
            <a:ext cx="11064240" cy="640080"/>
          </a:xfrm>
          <a:prstGeom prst="rect">
            <a:avLst/>
          </a:prstGeom>
          <a:noFill/>
          <a:ln/>
        </p:spPr>
        <p:txBody>
          <a:bodyPr wrap="square" lIns="0" tIns="0" rIns="0" bIns="0" rtlCol="0" anchor="ctr"/>
          <a:lstStyle/>
          <a:p>
            <a:pPr algn="l" indent="0" marL="0">
              <a:buNone/>
            </a:pPr>
            <a:r>
              <a:rPr lang="en-US" sz="3200" b="1" dirty="0">
                <a:solidFill>
                  <a:schemeClr val="bg1"/>
                </a:solidFill>
              </a:rPr>
              <a:t>GitHub Container Registry</a:t>
            </a:r>
            <a:endParaRPr lang="en-US" sz="3200" dirty="0"/>
          </a:p>
        </p:txBody>
      </p:sp>
      <p:sp>
        <p:nvSpPr>
          <p:cNvPr id="4" name="GHCR package page for taskboard-backend frame"/>
          <p:cNvSpPr/>
          <p:nvPr/>
        </p:nvSpPr>
        <p:spPr>
          <a:xfrm>
            <a:off x="512064" y="1569339"/>
            <a:ext cx="7936992" cy="4496562"/>
          </a:xfrm>
          <a:prstGeom prst="roundRect">
            <a:avLst>
              <a:gd name="adj" fmla="val 1220"/>
            </a:avLst>
          </a:prstGeom>
          <a:solidFill>
            <a:schemeClr val="tx2"/>
          </a:solidFill>
          <a:ln w="12700">
            <a:solidFill>
              <a:srgbClr val="2C3260"/>
            </a:solidFill>
            <a:prstDash val="solid"/>
          </a:ln>
        </p:spPr>
      </p:sp>
      <p:pic>
        <p:nvPicPr>
          <p:cNvPr id="5" name="GHCR package page for taskboard-backend" descr="GHCR package page for taskboard-backend">    </p:cNvPr>
          <p:cNvPicPr>
            <a:picLocks noChangeAspect="1"/>
          </p:cNvPicPr>
          <p:nvPr/>
        </p:nvPicPr>
        <p:blipFill>
          <a:blip r:embed="rId1"/>
          <a:stretch>
            <a:fillRect/>
          </a:stretch>
        </p:blipFill>
        <p:spPr>
          <a:xfrm>
            <a:off x="548640" y="1605915"/>
            <a:ext cx="7863840" cy="4423410"/>
          </a:xfrm>
          <a:prstGeom prst="rect">
            <a:avLst/>
          </a:prstGeom>
        </p:spPr>
      </p:pic>
      <p:sp>
        <p:nvSpPr>
          <p:cNvPr id="6" name="card Two public packages"/>
          <p:cNvSpPr/>
          <p:nvPr/>
        </p:nvSpPr>
        <p:spPr>
          <a:xfrm>
            <a:off x="8732520" y="1371600"/>
            <a:ext cx="2907792" cy="1554480"/>
          </a:xfrm>
          <a:prstGeom prst="roundRect">
            <a:avLst>
              <a:gd name="adj" fmla="val 4706"/>
            </a:avLst>
          </a:prstGeom>
          <a:solidFill>
            <a:schemeClr val="tx2"/>
          </a:solidFill>
          <a:ln w="12700">
            <a:solidFill>
              <a:srgbClr val="2C3260"/>
            </a:solidFill>
            <a:prstDash val="solid"/>
          </a:ln>
        </p:spPr>
      </p:sp>
      <p:sp>
        <p:nvSpPr>
          <p:cNvPr id="7" name="card text Two public packages"/>
          <p:cNvSpPr txBox="1"/>
          <p:nvPr/>
        </p:nvSpPr>
        <p:spPr>
          <a:xfrm>
            <a:off x="8915400" y="1481328"/>
            <a:ext cx="2542032" cy="1335024"/>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Two public packages</a:t>
            </a:r>
            <a:endParaRPr lang="en-US" sz="1700" dirty="0"/>
          </a:p>
          <a:p>
            <a:pPr indent="0" marL="0">
              <a:spcAft>
                <a:spcPts val="400"/>
              </a:spcAft>
              <a:buNone/>
            </a:pPr>
            <a:r>
              <a:rPr lang="en-US" sz="1400" dirty="0">
                <a:solidFill>
                  <a:schemeClr val="bg2"/>
                </a:solidFill>
              </a:rPr>
              <a:t>taskboard-backend and taskboard-frontend, linked to the repository.</a:t>
            </a:r>
            <a:endParaRPr lang="en-US" sz="1700" dirty="0"/>
          </a:p>
        </p:txBody>
      </p:sp>
      <p:sp>
        <p:nvSpPr>
          <p:cNvPr id="8" name="card Immutable tags"/>
          <p:cNvSpPr/>
          <p:nvPr/>
        </p:nvSpPr>
        <p:spPr>
          <a:xfrm>
            <a:off x="8732520" y="3154680"/>
            <a:ext cx="2907792" cy="1554480"/>
          </a:xfrm>
          <a:prstGeom prst="roundRect">
            <a:avLst>
              <a:gd name="adj" fmla="val 4706"/>
            </a:avLst>
          </a:prstGeom>
          <a:solidFill>
            <a:schemeClr val="tx2"/>
          </a:solidFill>
          <a:ln w="12700">
            <a:solidFill>
              <a:srgbClr val="2C3260"/>
            </a:solidFill>
            <a:prstDash val="solid"/>
          </a:ln>
        </p:spPr>
      </p:sp>
      <p:sp>
        <p:nvSpPr>
          <p:cNvPr id="9" name="card text Immutable tags"/>
          <p:cNvSpPr txBox="1"/>
          <p:nvPr/>
        </p:nvSpPr>
        <p:spPr>
          <a:xfrm>
            <a:off x="8915400" y="3264408"/>
            <a:ext cx="2542032" cy="1335024"/>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Immutable tags</a:t>
            </a:r>
            <a:endParaRPr lang="en-US" sz="1700" dirty="0"/>
          </a:p>
          <a:p>
            <a:pPr indent="0" marL="0">
              <a:spcAft>
                <a:spcPts val="400"/>
              </a:spcAft>
              <a:buNone/>
            </a:pPr>
            <a:r>
              <a:rPr lang="en-US" sz="1400" dirty="0">
                <a:solidFill>
                  <a:schemeClr val="bg2"/>
                </a:solidFill>
              </a:rPr>
              <a:t>a7d670b188bf… is the commit that built the image. No latest.</a:t>
            </a:r>
            <a:endParaRPr lang="en-US" sz="1700" dirty="0"/>
          </a:p>
        </p:txBody>
      </p:sp>
      <p:sp>
        <p:nvSpPr>
          <p:cNvPr id="10" name="card Pulled by Helm"/>
          <p:cNvSpPr/>
          <p:nvPr/>
        </p:nvSpPr>
        <p:spPr>
          <a:xfrm>
            <a:off x="8732520" y="4937760"/>
            <a:ext cx="2907792" cy="1325880"/>
          </a:xfrm>
          <a:prstGeom prst="roundRect">
            <a:avLst>
              <a:gd name="adj" fmla="val 5517"/>
            </a:avLst>
          </a:prstGeom>
          <a:solidFill>
            <a:schemeClr val="tx2"/>
          </a:solidFill>
          <a:ln w="12700">
            <a:solidFill>
              <a:srgbClr val="2C3260"/>
            </a:solidFill>
            <a:prstDash val="solid"/>
          </a:ln>
        </p:spPr>
      </p:sp>
      <p:sp>
        <p:nvSpPr>
          <p:cNvPr id="11" name="card text Pulled by Helm"/>
          <p:cNvSpPr txBox="1"/>
          <p:nvPr/>
        </p:nvSpPr>
        <p:spPr>
          <a:xfrm>
            <a:off x="8915400" y="5047488"/>
            <a:ext cx="2542032" cy="1106424"/>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Pulled by Helm</a:t>
            </a:r>
            <a:endParaRPr lang="en-US" sz="1700" dirty="0"/>
          </a:p>
          <a:p>
            <a:pPr indent="0" marL="0">
              <a:spcAft>
                <a:spcPts val="400"/>
              </a:spcAft>
              <a:buNone/>
            </a:pPr>
            <a:r>
              <a:rPr lang="en-US" sz="1400" dirty="0">
                <a:solidFill>
                  <a:schemeClr val="bg2"/>
                </a:solidFill>
              </a:rPr>
              <a:t>The deploy job sets image.tag to the SHA.</a:t>
            </a:r>
            <a:endParaRPr lang="en-US" sz="17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200" b="1" spc="300" kern="0" dirty="0">
                <a:solidFill>
                  <a:schemeClr val="accent6"/>
                </a:solidFill>
              </a:rPr>
              <a:t>M7 · TERRAFORM</a:t>
            </a:r>
            <a:endParaRPr lang="en-US" sz="1200" dirty="0"/>
          </a:p>
        </p:txBody>
      </p:sp>
      <p:sp>
        <p:nvSpPr>
          <p:cNvPr id="3" name="Text 0"/>
          <p:cNvSpPr/>
          <p:nvPr>
            <p:ph idx="101" type="title" hasCustomPrompt="1"/>
          </p:nvPr>
        </p:nvSpPr>
        <p:spPr>
          <a:xfrm>
            <a:off x="548640" y="548640"/>
            <a:ext cx="11064240" cy="640080"/>
          </a:xfrm>
          <a:prstGeom prst="rect">
            <a:avLst/>
          </a:prstGeom>
          <a:noFill/>
          <a:ln/>
        </p:spPr>
        <p:txBody>
          <a:bodyPr wrap="square" lIns="0" tIns="0" rIns="0" bIns="0" rtlCol="0" anchor="ctr"/>
          <a:lstStyle/>
          <a:p>
            <a:pPr algn="l" indent="0" marL="0">
              <a:buNone/>
            </a:pPr>
            <a:r>
              <a:rPr lang="en-US" sz="3200" b="1" dirty="0">
                <a:solidFill>
                  <a:schemeClr val="bg1"/>
                </a:solidFill>
              </a:rPr>
              <a:t>AWS VPC + EKS as code (ap-south-1)</a:t>
            </a:r>
            <a:endParaRPr lang="en-US" sz="3200" dirty="0"/>
          </a:p>
        </p:txBody>
      </p:sp>
      <p:sp>
        <p:nvSpPr>
          <p:cNvPr id="4" name="terraform/main.tf excerpt frame"/>
          <p:cNvSpPr/>
          <p:nvPr/>
        </p:nvSpPr>
        <p:spPr>
          <a:xfrm>
            <a:off x="512064" y="1335024"/>
            <a:ext cx="7296912" cy="4790868"/>
          </a:xfrm>
          <a:prstGeom prst="roundRect">
            <a:avLst>
              <a:gd name="adj" fmla="val 1145"/>
            </a:avLst>
          </a:prstGeom>
          <a:solidFill>
            <a:schemeClr val="tx2"/>
          </a:solidFill>
          <a:ln w="12700">
            <a:solidFill>
              <a:srgbClr val="2C3260"/>
            </a:solidFill>
            <a:prstDash val="solid"/>
          </a:ln>
        </p:spPr>
      </p:sp>
      <p:pic>
        <p:nvPicPr>
          <p:cNvPr id="5" name="terraform/main.tf excerpt" descr="terraform/main.tf excerpt">    </p:cNvPr>
          <p:cNvPicPr>
            <a:picLocks noChangeAspect="1"/>
          </p:cNvPicPr>
          <p:nvPr/>
        </p:nvPicPr>
        <p:blipFill>
          <a:blip r:embed="rId1"/>
          <a:stretch>
            <a:fillRect/>
          </a:stretch>
        </p:blipFill>
        <p:spPr>
          <a:xfrm>
            <a:off x="548640" y="1371600"/>
            <a:ext cx="7223760" cy="4717716"/>
          </a:xfrm>
          <a:prstGeom prst="rect">
            <a:avLst/>
          </a:prstGeom>
        </p:spPr>
      </p:pic>
      <p:sp>
        <p:nvSpPr>
          <p:cNvPr id="6" name="card VPC"/>
          <p:cNvSpPr/>
          <p:nvPr/>
        </p:nvSpPr>
        <p:spPr>
          <a:xfrm>
            <a:off x="8046720" y="1371600"/>
            <a:ext cx="3593592" cy="731520"/>
          </a:xfrm>
          <a:prstGeom prst="roundRect">
            <a:avLst>
              <a:gd name="adj" fmla="val 10000"/>
            </a:avLst>
          </a:prstGeom>
          <a:solidFill>
            <a:schemeClr val="tx2"/>
          </a:solidFill>
          <a:ln w="12700">
            <a:solidFill>
              <a:srgbClr val="2C3260"/>
            </a:solidFill>
            <a:prstDash val="solid"/>
          </a:ln>
        </p:spPr>
      </p:sp>
      <p:sp>
        <p:nvSpPr>
          <p:cNvPr id="7" name="card text VPC"/>
          <p:cNvSpPr txBox="1"/>
          <p:nvPr/>
        </p:nvSpPr>
        <p:spPr>
          <a:xfrm>
            <a:off x="8229600" y="1481328"/>
            <a:ext cx="3227832" cy="512064"/>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VPC</a:t>
            </a:r>
            <a:endParaRPr lang="en-US" sz="1700" dirty="0"/>
          </a:p>
          <a:p>
            <a:pPr indent="0" marL="0">
              <a:spcAft>
                <a:spcPts val="400"/>
              </a:spcAft>
              <a:buNone/>
            </a:pPr>
            <a:r>
              <a:rPr lang="en-US" sz="1400" dirty="0">
                <a:solidFill>
                  <a:schemeClr val="bg2"/>
                </a:solidFill>
              </a:rPr>
              <a:t>2 availability zones</a:t>
            </a:r>
            <a:endParaRPr lang="en-US" sz="1700" dirty="0"/>
          </a:p>
        </p:txBody>
      </p:sp>
      <p:sp>
        <p:nvSpPr>
          <p:cNvPr id="8" name="card Public subnets"/>
          <p:cNvSpPr/>
          <p:nvPr/>
        </p:nvSpPr>
        <p:spPr>
          <a:xfrm>
            <a:off x="8046720" y="2203704"/>
            <a:ext cx="3593592" cy="731520"/>
          </a:xfrm>
          <a:prstGeom prst="roundRect">
            <a:avLst>
              <a:gd name="adj" fmla="val 10000"/>
            </a:avLst>
          </a:prstGeom>
          <a:solidFill>
            <a:schemeClr val="tx2"/>
          </a:solidFill>
          <a:ln w="12700">
            <a:solidFill>
              <a:srgbClr val="2C3260"/>
            </a:solidFill>
            <a:prstDash val="solid"/>
          </a:ln>
        </p:spPr>
      </p:sp>
      <p:sp>
        <p:nvSpPr>
          <p:cNvPr id="9" name="card text Public subnets"/>
          <p:cNvSpPr txBox="1"/>
          <p:nvPr/>
        </p:nvSpPr>
        <p:spPr>
          <a:xfrm>
            <a:off x="8229600" y="2313432"/>
            <a:ext cx="3227832" cy="512064"/>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Public subnets</a:t>
            </a:r>
            <a:endParaRPr lang="en-US" sz="1700" dirty="0"/>
          </a:p>
          <a:p>
            <a:pPr indent="0" marL="0">
              <a:spcAft>
                <a:spcPts val="400"/>
              </a:spcAft>
              <a:buNone/>
            </a:pPr>
            <a:r>
              <a:rPr lang="en-US" sz="1400" dirty="0">
                <a:solidFill>
                  <a:schemeClr val="bg2"/>
                </a:solidFill>
              </a:rPr>
              <a:t>load balancers, NAT</a:t>
            </a:r>
            <a:endParaRPr lang="en-US" sz="1700" dirty="0"/>
          </a:p>
        </p:txBody>
      </p:sp>
      <p:sp>
        <p:nvSpPr>
          <p:cNvPr id="10" name="card Private subnets"/>
          <p:cNvSpPr/>
          <p:nvPr/>
        </p:nvSpPr>
        <p:spPr>
          <a:xfrm>
            <a:off x="8046720" y="3035808"/>
            <a:ext cx="3593592" cy="731520"/>
          </a:xfrm>
          <a:prstGeom prst="roundRect">
            <a:avLst>
              <a:gd name="adj" fmla="val 10000"/>
            </a:avLst>
          </a:prstGeom>
          <a:solidFill>
            <a:schemeClr val="tx2"/>
          </a:solidFill>
          <a:ln w="12700">
            <a:solidFill>
              <a:srgbClr val="2C3260"/>
            </a:solidFill>
            <a:prstDash val="solid"/>
          </a:ln>
        </p:spPr>
      </p:sp>
      <p:sp>
        <p:nvSpPr>
          <p:cNvPr id="11" name="card text Private subnets"/>
          <p:cNvSpPr txBox="1"/>
          <p:nvPr/>
        </p:nvSpPr>
        <p:spPr>
          <a:xfrm>
            <a:off x="8229600" y="3145536"/>
            <a:ext cx="3227832" cy="512064"/>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Private subnets</a:t>
            </a:r>
            <a:endParaRPr lang="en-US" sz="1700" dirty="0"/>
          </a:p>
          <a:p>
            <a:pPr indent="0" marL="0">
              <a:spcAft>
                <a:spcPts val="400"/>
              </a:spcAft>
              <a:buNone/>
            </a:pPr>
            <a:r>
              <a:rPr lang="en-US" sz="1400" dirty="0">
                <a:solidFill>
                  <a:schemeClr val="bg2"/>
                </a:solidFill>
              </a:rPr>
              <a:t>worker nodes</a:t>
            </a:r>
            <a:endParaRPr lang="en-US" sz="1700" dirty="0"/>
          </a:p>
        </p:txBody>
      </p:sp>
      <p:sp>
        <p:nvSpPr>
          <p:cNvPr id="12" name="card NAT gateway"/>
          <p:cNvSpPr/>
          <p:nvPr/>
        </p:nvSpPr>
        <p:spPr>
          <a:xfrm>
            <a:off x="8046720" y="3867912"/>
            <a:ext cx="3593592" cy="731520"/>
          </a:xfrm>
          <a:prstGeom prst="roundRect">
            <a:avLst>
              <a:gd name="adj" fmla="val 10000"/>
            </a:avLst>
          </a:prstGeom>
          <a:solidFill>
            <a:schemeClr val="tx2"/>
          </a:solidFill>
          <a:ln w="12700">
            <a:solidFill>
              <a:srgbClr val="2C3260"/>
            </a:solidFill>
            <a:prstDash val="solid"/>
          </a:ln>
        </p:spPr>
      </p:sp>
      <p:sp>
        <p:nvSpPr>
          <p:cNvPr id="13" name="card text NAT gateway"/>
          <p:cNvSpPr txBox="1"/>
          <p:nvPr/>
        </p:nvSpPr>
        <p:spPr>
          <a:xfrm>
            <a:off x="8229600" y="3977640"/>
            <a:ext cx="3227832" cy="512064"/>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NAT gateway</a:t>
            </a:r>
            <a:endParaRPr lang="en-US" sz="1700" dirty="0"/>
          </a:p>
          <a:p>
            <a:pPr indent="0" marL="0">
              <a:spcAft>
                <a:spcPts val="400"/>
              </a:spcAft>
              <a:buNone/>
            </a:pPr>
            <a:r>
              <a:rPr lang="en-US" sz="1400" dirty="0">
                <a:solidFill>
                  <a:schemeClr val="bg2"/>
                </a:solidFill>
              </a:rPr>
              <a:t>one, to keep the bill low</a:t>
            </a:r>
            <a:endParaRPr lang="en-US" sz="1700" dirty="0"/>
          </a:p>
        </p:txBody>
      </p:sp>
      <p:sp>
        <p:nvSpPr>
          <p:cNvPr id="14" name="card EKS cluster"/>
          <p:cNvSpPr/>
          <p:nvPr/>
        </p:nvSpPr>
        <p:spPr>
          <a:xfrm>
            <a:off x="8046720" y="4700016"/>
            <a:ext cx="3593592" cy="731520"/>
          </a:xfrm>
          <a:prstGeom prst="roundRect">
            <a:avLst>
              <a:gd name="adj" fmla="val 10000"/>
            </a:avLst>
          </a:prstGeom>
          <a:solidFill>
            <a:schemeClr val="tx2"/>
          </a:solidFill>
          <a:ln w="12700">
            <a:solidFill>
              <a:srgbClr val="2C3260"/>
            </a:solidFill>
            <a:prstDash val="solid"/>
          </a:ln>
        </p:spPr>
      </p:sp>
      <p:sp>
        <p:nvSpPr>
          <p:cNvPr id="15" name="card text EKS cluster"/>
          <p:cNvSpPr txBox="1"/>
          <p:nvPr/>
        </p:nvSpPr>
        <p:spPr>
          <a:xfrm>
            <a:off x="8229600" y="4809744"/>
            <a:ext cx="3227832" cy="512064"/>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EKS cluster</a:t>
            </a:r>
            <a:endParaRPr lang="en-US" sz="1700" dirty="0"/>
          </a:p>
          <a:p>
            <a:pPr indent="0" marL="0">
              <a:spcAft>
                <a:spcPts val="400"/>
              </a:spcAft>
              <a:buNone/>
            </a:pPr>
            <a:r>
              <a:rPr lang="en-US" sz="1400" dirty="0">
                <a:solidFill>
                  <a:schemeClr val="bg2"/>
                </a:solidFill>
              </a:rPr>
              <a:t>CoreDNS, VPC CNI, EBS CSI, metrics-server</a:t>
            </a:r>
            <a:endParaRPr lang="en-US" sz="1700" dirty="0"/>
          </a:p>
        </p:txBody>
      </p:sp>
      <p:sp>
        <p:nvSpPr>
          <p:cNvPr id="16" name="card Managed node group"/>
          <p:cNvSpPr/>
          <p:nvPr/>
        </p:nvSpPr>
        <p:spPr>
          <a:xfrm>
            <a:off x="8046720" y="5532120"/>
            <a:ext cx="3593592" cy="731520"/>
          </a:xfrm>
          <a:prstGeom prst="roundRect">
            <a:avLst>
              <a:gd name="adj" fmla="val 10000"/>
            </a:avLst>
          </a:prstGeom>
          <a:solidFill>
            <a:schemeClr val="tx2"/>
          </a:solidFill>
          <a:ln w="12700">
            <a:solidFill>
              <a:srgbClr val="2C3260"/>
            </a:solidFill>
            <a:prstDash val="solid"/>
          </a:ln>
        </p:spPr>
      </p:sp>
      <p:sp>
        <p:nvSpPr>
          <p:cNvPr id="17" name="card text Managed node group"/>
          <p:cNvSpPr txBox="1"/>
          <p:nvPr/>
        </p:nvSpPr>
        <p:spPr>
          <a:xfrm>
            <a:off x="8229600" y="5641848"/>
            <a:ext cx="3227832" cy="512064"/>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Managed node group</a:t>
            </a:r>
            <a:endParaRPr lang="en-US" sz="1700" dirty="0"/>
          </a:p>
          <a:p>
            <a:pPr indent="0" marL="0">
              <a:spcAft>
                <a:spcPts val="400"/>
              </a:spcAft>
              <a:buNone/>
            </a:pPr>
            <a:r>
              <a:rPr lang="en-US" sz="1400" dirty="0">
                <a:solidFill>
                  <a:schemeClr val="bg2"/>
                </a:solidFill>
              </a:rPr>
              <a:t>2 × t3.medium, scales to 4</a:t>
            </a:r>
            <a:endParaRPr lang="en-US" sz="17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200" b="1" spc="300" kern="0" dirty="0">
                <a:solidFill>
                  <a:schemeClr val="accent6"/>
                </a:solidFill>
              </a:rPr>
              <a:t>M7 · TERRAFORM</a:t>
            </a:r>
            <a:endParaRPr lang="en-US" sz="1200" dirty="0"/>
          </a:p>
        </p:txBody>
      </p:sp>
      <p:sp>
        <p:nvSpPr>
          <p:cNvPr id="3" name="Text 0"/>
          <p:cNvSpPr/>
          <p:nvPr>
            <p:ph idx="101" type="title" hasCustomPrompt="1"/>
          </p:nvPr>
        </p:nvSpPr>
        <p:spPr>
          <a:xfrm>
            <a:off x="548640" y="548640"/>
            <a:ext cx="11064240" cy="640080"/>
          </a:xfrm>
          <a:prstGeom prst="rect">
            <a:avLst/>
          </a:prstGeom>
          <a:noFill/>
          <a:ln/>
        </p:spPr>
        <p:txBody>
          <a:bodyPr wrap="square" lIns="0" tIns="0" rIns="0" bIns="0" rtlCol="0" anchor="ctr"/>
          <a:lstStyle/>
          <a:p>
            <a:pPr algn="l" indent="0" marL="0">
              <a:buNone/>
            </a:pPr>
            <a:r>
              <a:rPr lang="en-US" sz="3200" b="1" dirty="0">
                <a:solidFill>
                  <a:schemeClr val="bg1"/>
                </a:solidFill>
              </a:rPr>
              <a:t>init · fmt · validate, then plan → apply → destroy</a:t>
            </a:r>
            <a:endParaRPr lang="en-US" sz="3200" dirty="0"/>
          </a:p>
        </p:txBody>
      </p:sp>
      <p:sp>
        <p:nvSpPr>
          <p:cNvPr id="4" name="terraform init, fmt and validate output frame"/>
          <p:cNvSpPr/>
          <p:nvPr/>
        </p:nvSpPr>
        <p:spPr>
          <a:xfrm>
            <a:off x="512064" y="1335024"/>
            <a:ext cx="6839712" cy="4946996"/>
          </a:xfrm>
          <a:prstGeom prst="roundRect">
            <a:avLst>
              <a:gd name="adj" fmla="val 1109"/>
            </a:avLst>
          </a:prstGeom>
          <a:solidFill>
            <a:schemeClr val="tx2"/>
          </a:solidFill>
          <a:ln w="12700">
            <a:solidFill>
              <a:srgbClr val="2C3260"/>
            </a:solidFill>
            <a:prstDash val="solid"/>
          </a:ln>
        </p:spPr>
      </p:sp>
      <p:pic>
        <p:nvPicPr>
          <p:cNvPr id="5" name="terraform init, fmt and validate output" descr="terraform init, fmt and validate output">    </p:cNvPr>
          <p:cNvPicPr>
            <a:picLocks noChangeAspect="1"/>
          </p:cNvPicPr>
          <p:nvPr/>
        </p:nvPicPr>
        <p:blipFill>
          <a:blip r:embed="rId1"/>
          <a:stretch>
            <a:fillRect/>
          </a:stretch>
        </p:blipFill>
        <p:spPr>
          <a:xfrm>
            <a:off x="548640" y="1371600"/>
            <a:ext cx="6766560" cy="4873844"/>
          </a:xfrm>
          <a:prstGeom prst="rect">
            <a:avLst/>
          </a:prstGeom>
        </p:spPr>
      </p:pic>
      <p:sp>
        <p:nvSpPr>
          <p:cNvPr id="6" name="card Verified here"/>
          <p:cNvSpPr/>
          <p:nvPr/>
        </p:nvSpPr>
        <p:spPr>
          <a:xfrm>
            <a:off x="7589520" y="1371600"/>
            <a:ext cx="4050792" cy="1463040"/>
          </a:xfrm>
          <a:prstGeom prst="roundRect">
            <a:avLst>
              <a:gd name="adj" fmla="val 5000"/>
            </a:avLst>
          </a:prstGeom>
          <a:solidFill>
            <a:schemeClr val="tx2"/>
          </a:solidFill>
          <a:ln w="12700">
            <a:solidFill>
              <a:srgbClr val="2C3260"/>
            </a:solidFill>
            <a:prstDash val="solid"/>
          </a:ln>
        </p:spPr>
      </p:sp>
      <p:sp>
        <p:nvSpPr>
          <p:cNvPr id="7" name="card text Verified here"/>
          <p:cNvSpPr txBox="1"/>
          <p:nvPr/>
        </p:nvSpPr>
        <p:spPr>
          <a:xfrm>
            <a:off x="7772400" y="1481328"/>
            <a:ext cx="3685032" cy="1243584"/>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Verified here</a:t>
            </a:r>
            <a:endParaRPr lang="en-US" sz="1700" dirty="0"/>
          </a:p>
          <a:p>
            <a:pPr indent="0" marL="0">
              <a:spcAft>
                <a:spcPts val="400"/>
              </a:spcAft>
              <a:buNone/>
            </a:pPr>
            <a:r>
              <a:rPr lang="en-US" sz="1400" dirty="0">
                <a:solidFill>
                  <a:schemeClr val="bg2"/>
                </a:solidFill>
              </a:rPr>
              <a:t>terraform init downloads the AWS provider and modules; fmt -check and validate pass.</a:t>
            </a:r>
            <a:endParaRPr lang="en-US" sz="1700" dirty="0"/>
          </a:p>
        </p:txBody>
      </p:sp>
      <p:sp>
        <p:nvSpPr>
          <p:cNvPr id="8" name="card Lifecycle"/>
          <p:cNvSpPr/>
          <p:nvPr/>
        </p:nvSpPr>
        <p:spPr>
          <a:xfrm>
            <a:off x="7589520" y="3063240"/>
            <a:ext cx="4050792" cy="1463040"/>
          </a:xfrm>
          <a:prstGeom prst="roundRect">
            <a:avLst>
              <a:gd name="adj" fmla="val 5000"/>
            </a:avLst>
          </a:prstGeom>
          <a:solidFill>
            <a:schemeClr val="tx2"/>
          </a:solidFill>
          <a:ln w="12700">
            <a:solidFill>
              <a:srgbClr val="2C3260"/>
            </a:solidFill>
            <a:prstDash val="solid"/>
          </a:ln>
        </p:spPr>
      </p:sp>
      <p:sp>
        <p:nvSpPr>
          <p:cNvPr id="9" name="card text Lifecycle"/>
          <p:cNvSpPr txBox="1"/>
          <p:nvPr/>
        </p:nvSpPr>
        <p:spPr>
          <a:xfrm>
            <a:off x="7772400" y="3172968"/>
            <a:ext cx="3685032" cy="1243584"/>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Lifecycle</a:t>
            </a:r>
            <a:endParaRPr lang="en-US" sz="1700" dirty="0"/>
          </a:p>
          <a:p>
            <a:pPr indent="0" marL="0">
              <a:spcAft>
                <a:spcPts val="400"/>
              </a:spcAft>
              <a:buNone/>
            </a:pPr>
            <a:r>
              <a:rPr lang="en-US" sz="1400" dirty="0">
                <a:solidFill>
                  <a:schemeClr val="bg2"/>
                </a:solidFill>
              </a:rPr>
              <a:t>terraform plan → apply → aws eks update-kubeconfig → helm deploy → terraform destroy after the evaluation.</a:t>
            </a:r>
            <a:endParaRPr lang="en-US" sz="1700" dirty="0"/>
          </a:p>
        </p:txBody>
      </p:sp>
      <p:sp>
        <p:nvSpPr>
          <p:cNvPr id="10" name="card No secrets in Git"/>
          <p:cNvSpPr/>
          <p:nvPr/>
        </p:nvSpPr>
        <p:spPr>
          <a:xfrm>
            <a:off x="7589520" y="4754880"/>
            <a:ext cx="4050792" cy="1508760"/>
          </a:xfrm>
          <a:prstGeom prst="roundRect">
            <a:avLst>
              <a:gd name="adj" fmla="val 4848"/>
            </a:avLst>
          </a:prstGeom>
          <a:solidFill>
            <a:schemeClr val="tx2"/>
          </a:solidFill>
          <a:ln w="12700">
            <a:solidFill>
              <a:srgbClr val="2C3260"/>
            </a:solidFill>
            <a:prstDash val="solid"/>
          </a:ln>
        </p:spPr>
      </p:sp>
      <p:sp>
        <p:nvSpPr>
          <p:cNvPr id="11" name="card text No secrets in Git"/>
          <p:cNvSpPr txBox="1"/>
          <p:nvPr/>
        </p:nvSpPr>
        <p:spPr>
          <a:xfrm>
            <a:off x="7772400" y="4864608"/>
            <a:ext cx="3685032" cy="1289304"/>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No secrets in Git</a:t>
            </a:r>
            <a:endParaRPr lang="en-US" sz="1700" dirty="0"/>
          </a:p>
          <a:p>
            <a:pPr indent="0" marL="0">
              <a:spcAft>
                <a:spcPts val="400"/>
              </a:spcAft>
              <a:buNone/>
            </a:pPr>
            <a:r>
              <a:rPr lang="en-US" sz="1400" dirty="0">
                <a:solidFill>
                  <a:schemeClr val="bg2"/>
                </a:solidFill>
              </a:rPr>
              <a:t>State, *.tfvars and .terraform/ are ignored; only terraform.tfvars.example is committed.</a:t>
            </a:r>
            <a:endParaRPr lang="en-US" sz="17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200" b="1" spc="300" kern="0" dirty="0">
                <a:solidFill>
                  <a:schemeClr val="accent6"/>
                </a:solidFill>
              </a:rPr>
              <a:t>M7 · AWS EVIDENCE</a:t>
            </a:r>
            <a:endParaRPr lang="en-US" sz="1200" dirty="0"/>
          </a:p>
        </p:txBody>
      </p:sp>
      <p:sp>
        <p:nvSpPr>
          <p:cNvPr id="3" name="Text 0"/>
          <p:cNvSpPr/>
          <p:nvPr>
            <p:ph idx="101" type="title" hasCustomPrompt="1"/>
          </p:nvPr>
        </p:nvSpPr>
        <p:spPr>
          <a:xfrm>
            <a:off x="548640" y="548640"/>
            <a:ext cx="11064240" cy="640080"/>
          </a:xfrm>
          <a:prstGeom prst="rect">
            <a:avLst/>
          </a:prstGeom>
          <a:noFill/>
          <a:ln/>
        </p:spPr>
        <p:txBody>
          <a:bodyPr wrap="square" lIns="0" tIns="0" rIns="0" bIns="0" rtlCol="0" anchor="ctr"/>
          <a:lstStyle/>
          <a:p>
            <a:pPr algn="l" indent="0" marL="0">
              <a:buNone/>
            </a:pPr>
            <a:r>
              <a:rPr lang="en-US" sz="3200" b="1" dirty="0">
                <a:solidFill>
                  <a:schemeClr val="bg1"/>
                </a:solidFill>
              </a:rPr>
              <a:t>Run on AWS: add these three screenshots</a:t>
            </a:r>
            <a:endParaRPr lang="en-US" sz="3200" dirty="0"/>
          </a:p>
        </p:txBody>
      </p:sp>
      <p:sp>
        <p:nvSpPr>
          <p:cNvPr id="4" name="evidence slot terraform plan"/>
          <p:cNvSpPr/>
          <p:nvPr/>
        </p:nvSpPr>
        <p:spPr>
          <a:xfrm>
            <a:off x="548640" y="1463040"/>
            <a:ext cx="3538728" cy="3931920"/>
          </a:xfrm>
          <a:prstGeom prst="roundRect">
            <a:avLst>
              <a:gd name="adj" fmla="val 2584"/>
            </a:avLst>
          </a:prstGeom>
          <a:solidFill>
            <a:schemeClr val="tx2"/>
          </a:solidFill>
          <a:ln w="19050">
            <a:solidFill>
              <a:srgbClr val="818CF8"/>
            </a:solidFill>
            <a:prstDash val="dash"/>
          </a:ln>
        </p:spPr>
      </p:sp>
      <p:sp>
        <p:nvSpPr>
          <p:cNvPr id="5" name="evidence text terraform plan"/>
          <p:cNvSpPr txBox="1"/>
          <p:nvPr/>
        </p:nvSpPr>
        <p:spPr>
          <a:xfrm>
            <a:off x="822960" y="2834640"/>
            <a:ext cx="2990088" cy="1280160"/>
          </a:xfrm>
          <a:prstGeom prst="rect">
            <a:avLst/>
          </a:prstGeom>
          <a:noFill/>
          <a:ln/>
        </p:spPr>
        <p:txBody>
          <a:bodyPr wrap="square" lIns="0" tIns="0" rIns="0" bIns="0" rtlCol="0" anchor="ctr"/>
          <a:lstStyle/>
          <a:p>
            <a:pPr algn="ctr" indent="0" marL="0">
              <a:buNone/>
            </a:pPr>
            <a:r>
              <a:rPr lang="en-US" sz="1800" b="1" dirty="0">
                <a:solidFill>
                  <a:schemeClr val="bg1"/>
                </a:solidFill>
              </a:rPr>
              <a:t>Paste screenshot: terraform plan</a:t>
            </a:r>
            <a:endParaRPr lang="en-US" sz="1800" dirty="0"/>
          </a:p>
          <a:p>
            <a:pPr algn="ctr" indent="0" marL="0">
              <a:buNone/>
            </a:pPr>
            <a:r>
              <a:rPr lang="en-US" sz="1400" dirty="0">
                <a:solidFill>
                  <a:schemeClr val="bg2"/>
                </a:solidFill>
              </a:rPr>
              <a:t>The plan summary ("Plan: N to add, 0 to change, 0 to destroy").</a:t>
            </a:r>
            <a:endParaRPr lang="en-US" sz="1800" dirty="0"/>
          </a:p>
        </p:txBody>
      </p:sp>
      <p:sp>
        <p:nvSpPr>
          <p:cNvPr id="6" name="evidence slot AWS Console"/>
          <p:cNvSpPr/>
          <p:nvPr/>
        </p:nvSpPr>
        <p:spPr>
          <a:xfrm>
            <a:off x="4325112" y="1463040"/>
            <a:ext cx="3538728" cy="3931920"/>
          </a:xfrm>
          <a:prstGeom prst="roundRect">
            <a:avLst>
              <a:gd name="adj" fmla="val 2584"/>
            </a:avLst>
          </a:prstGeom>
          <a:solidFill>
            <a:schemeClr val="tx2"/>
          </a:solidFill>
          <a:ln w="19050">
            <a:solidFill>
              <a:srgbClr val="818CF8"/>
            </a:solidFill>
            <a:prstDash val="dash"/>
          </a:ln>
        </p:spPr>
      </p:sp>
      <p:sp>
        <p:nvSpPr>
          <p:cNvPr id="7" name="evidence text AWS Console"/>
          <p:cNvSpPr txBox="1"/>
          <p:nvPr/>
        </p:nvSpPr>
        <p:spPr>
          <a:xfrm>
            <a:off x="4599432" y="2834640"/>
            <a:ext cx="2990088" cy="1280160"/>
          </a:xfrm>
          <a:prstGeom prst="rect">
            <a:avLst/>
          </a:prstGeom>
          <a:noFill/>
          <a:ln/>
        </p:spPr>
        <p:txBody>
          <a:bodyPr wrap="square" lIns="0" tIns="0" rIns="0" bIns="0" rtlCol="0" anchor="ctr"/>
          <a:lstStyle/>
          <a:p>
            <a:pPr algn="ctr" indent="0" marL="0">
              <a:buNone/>
            </a:pPr>
            <a:r>
              <a:rPr lang="en-US" sz="1800" b="1" dirty="0">
                <a:solidFill>
                  <a:schemeClr val="bg1"/>
                </a:solidFill>
              </a:rPr>
              <a:t>Paste screenshot: AWS Console</a:t>
            </a:r>
            <a:endParaRPr lang="en-US" sz="1800" dirty="0"/>
          </a:p>
          <a:p>
            <a:pPr algn="ctr" indent="0" marL="0">
              <a:buNone/>
            </a:pPr>
            <a:r>
              <a:rPr lang="en-US" sz="1400" dirty="0">
                <a:solidFill>
                  <a:schemeClr val="bg2"/>
                </a:solidFill>
              </a:rPr>
              <a:t>VPC and the taskboard-eks cluster with its node group in ap-south-1.</a:t>
            </a:r>
            <a:endParaRPr lang="en-US" sz="1800" dirty="0"/>
          </a:p>
        </p:txBody>
      </p:sp>
      <p:sp>
        <p:nvSpPr>
          <p:cNvPr id="8" name="evidence slot terraform destroy"/>
          <p:cNvSpPr/>
          <p:nvPr/>
        </p:nvSpPr>
        <p:spPr>
          <a:xfrm>
            <a:off x="8101584" y="1463040"/>
            <a:ext cx="3538728" cy="3931920"/>
          </a:xfrm>
          <a:prstGeom prst="roundRect">
            <a:avLst>
              <a:gd name="adj" fmla="val 2584"/>
            </a:avLst>
          </a:prstGeom>
          <a:solidFill>
            <a:schemeClr val="tx2"/>
          </a:solidFill>
          <a:ln w="19050">
            <a:solidFill>
              <a:srgbClr val="818CF8"/>
            </a:solidFill>
            <a:prstDash val="dash"/>
          </a:ln>
        </p:spPr>
      </p:sp>
      <p:sp>
        <p:nvSpPr>
          <p:cNvPr id="9" name="evidence text terraform destroy"/>
          <p:cNvSpPr txBox="1"/>
          <p:nvPr/>
        </p:nvSpPr>
        <p:spPr>
          <a:xfrm>
            <a:off x="8375904" y="2834640"/>
            <a:ext cx="2990088" cy="1280160"/>
          </a:xfrm>
          <a:prstGeom prst="rect">
            <a:avLst/>
          </a:prstGeom>
          <a:noFill/>
          <a:ln/>
        </p:spPr>
        <p:txBody>
          <a:bodyPr wrap="square" lIns="0" tIns="0" rIns="0" bIns="0" rtlCol="0" anchor="ctr"/>
          <a:lstStyle/>
          <a:p>
            <a:pPr algn="ctr" indent="0" marL="0">
              <a:buNone/>
            </a:pPr>
            <a:r>
              <a:rPr lang="en-US" sz="1800" b="1" dirty="0">
                <a:solidFill>
                  <a:schemeClr val="bg1"/>
                </a:solidFill>
              </a:rPr>
              <a:t>Paste screenshot: terraform destroy</a:t>
            </a:r>
            <a:endParaRPr lang="en-US" sz="1800" dirty="0"/>
          </a:p>
          <a:p>
            <a:pPr algn="ctr" indent="0" marL="0">
              <a:buNone/>
            </a:pPr>
            <a:r>
              <a:rPr lang="en-US" sz="1400" dirty="0">
                <a:solidFill>
                  <a:schemeClr val="bg2"/>
                </a:solidFill>
              </a:rPr>
              <a:t>The "Destroy complete!" line, proving nothing is left billing.</a:t>
            </a:r>
            <a:endParaRPr lang="en-US" sz="1800" dirty="0"/>
          </a:p>
        </p:txBody>
      </p:sp>
      <p:sp>
        <p:nvSpPr>
          <p:cNvPr id="10" name="evidence note"/>
          <p:cNvSpPr txBox="1"/>
          <p:nvPr/>
        </p:nvSpPr>
        <p:spPr>
          <a:xfrm>
            <a:off x="548640" y="5623560"/>
            <a:ext cx="11091672" cy="640080"/>
          </a:xfrm>
          <a:prstGeom prst="rect">
            <a:avLst/>
          </a:prstGeom>
          <a:noFill/>
          <a:ln/>
        </p:spPr>
        <p:txBody>
          <a:bodyPr wrap="square" lIns="0" tIns="0" rIns="0" bIns="0" rtlCol="0" anchor="ctr"/>
          <a:lstStyle/>
          <a:p>
            <a:pPr indent="0" marL="0">
              <a:buNone/>
            </a:pPr>
            <a:r>
              <a:rPr lang="en-US" sz="1400" dirty="0">
                <a:solidFill>
                  <a:schemeClr val="bg2"/>
                </a:solidFill>
              </a:rPr>
              <a:t>These need a live AWS account (EKS, NAT and EC2 are billed per hour). The Kubernetes slides that follow use the same Helm chart on a local minikube cluster.</a:t>
            </a:r>
            <a:endParaRPr lang="en-US" sz="14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200" b="1" spc="300" kern="0" dirty="0">
                <a:solidFill>
                  <a:schemeClr val="accent6"/>
                </a:solidFill>
              </a:rPr>
              <a:t>M8 · HELM</a:t>
            </a:r>
            <a:endParaRPr lang="en-US" sz="1200" dirty="0"/>
          </a:p>
        </p:txBody>
      </p:sp>
      <p:sp>
        <p:nvSpPr>
          <p:cNvPr id="3" name="Text 0"/>
          <p:cNvSpPr/>
          <p:nvPr>
            <p:ph idx="101" type="title" hasCustomPrompt="1"/>
          </p:nvPr>
        </p:nvSpPr>
        <p:spPr>
          <a:xfrm>
            <a:off x="548640" y="548640"/>
            <a:ext cx="11064240" cy="640080"/>
          </a:xfrm>
          <a:prstGeom prst="rect">
            <a:avLst/>
          </a:prstGeom>
          <a:noFill/>
          <a:ln/>
        </p:spPr>
        <p:txBody>
          <a:bodyPr wrap="square" lIns="0" tIns="0" rIns="0" bIns="0" rtlCol="0" anchor="ctr"/>
          <a:lstStyle/>
          <a:p>
            <a:pPr algn="l" indent="0" marL="0">
              <a:buNone/>
            </a:pPr>
            <a:r>
              <a:rPr lang="en-US" sz="3200" b="1" dirty="0">
                <a:solidFill>
                  <a:schemeClr val="bg1"/>
                </a:solidFill>
              </a:rPr>
              <a:t>One command deploys the whole release</a:t>
            </a:r>
            <a:endParaRPr lang="en-US" sz="3200" dirty="0"/>
          </a:p>
        </p:txBody>
      </p:sp>
      <p:sp>
        <p:nvSpPr>
          <p:cNvPr id="4" name="helm upgrade --install output frame"/>
          <p:cNvSpPr/>
          <p:nvPr/>
        </p:nvSpPr>
        <p:spPr>
          <a:xfrm>
            <a:off x="512064" y="1335024"/>
            <a:ext cx="6016752" cy="3117435"/>
          </a:xfrm>
          <a:prstGeom prst="roundRect">
            <a:avLst>
              <a:gd name="adj" fmla="val 1760"/>
            </a:avLst>
          </a:prstGeom>
          <a:solidFill>
            <a:schemeClr val="tx2"/>
          </a:solidFill>
          <a:ln w="12700">
            <a:solidFill>
              <a:srgbClr val="2C3260"/>
            </a:solidFill>
            <a:prstDash val="solid"/>
          </a:ln>
        </p:spPr>
      </p:sp>
      <p:pic>
        <p:nvPicPr>
          <p:cNvPr id="5" name="helm upgrade --install output" descr="helm upgrade --install output">    </p:cNvPr>
          <p:cNvPicPr>
            <a:picLocks noChangeAspect="1"/>
          </p:cNvPicPr>
          <p:nvPr/>
        </p:nvPicPr>
        <p:blipFill>
          <a:blip r:embed="rId1"/>
          <a:stretch>
            <a:fillRect/>
          </a:stretch>
        </p:blipFill>
        <p:spPr>
          <a:xfrm>
            <a:off x="548640" y="1371600"/>
            <a:ext cx="5943600" cy="3044283"/>
          </a:xfrm>
          <a:prstGeom prst="rect">
            <a:avLst/>
          </a:prstGeom>
        </p:spPr>
      </p:pic>
      <p:sp>
        <p:nvSpPr>
          <p:cNvPr id="6" name="card One chart, every object"/>
          <p:cNvSpPr/>
          <p:nvPr/>
        </p:nvSpPr>
        <p:spPr>
          <a:xfrm>
            <a:off x="548640" y="4690203"/>
            <a:ext cx="5943600" cy="1573437"/>
          </a:xfrm>
          <a:prstGeom prst="roundRect">
            <a:avLst>
              <a:gd name="adj" fmla="val 4649"/>
            </a:avLst>
          </a:prstGeom>
          <a:solidFill>
            <a:schemeClr val="tx2"/>
          </a:solidFill>
          <a:ln w="12700">
            <a:solidFill>
              <a:srgbClr val="2C3260"/>
            </a:solidFill>
            <a:prstDash val="solid"/>
          </a:ln>
        </p:spPr>
      </p:sp>
      <p:sp>
        <p:nvSpPr>
          <p:cNvPr id="7" name="card text One chart, every object"/>
          <p:cNvSpPr txBox="1"/>
          <p:nvPr/>
        </p:nvSpPr>
        <p:spPr>
          <a:xfrm>
            <a:off x="731520" y="4799931"/>
            <a:ext cx="5577840" cy="1353981"/>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One chart, every object</a:t>
            </a:r>
            <a:endParaRPr lang="en-US" sz="1700" dirty="0"/>
          </a:p>
          <a:p>
            <a:pPr indent="0" marL="0">
              <a:spcAft>
                <a:spcPts val="400"/>
              </a:spcAft>
              <a:buNone/>
            </a:pPr>
            <a:r>
              <a:rPr lang="en-US" sz="1400" dirty="0">
                <a:solidFill>
                  <a:schemeClr val="bg2"/>
                </a:solidFill>
              </a:rPr>
              <a:t>Deployments, PostgreSQL StatefulSet + PVC, ClusterIP Services, Ingress, HPA, ServiceMonitor, alerts and the Grafana dashboard.</a:t>
            </a:r>
            <a:endParaRPr lang="en-US" sz="1700" dirty="0"/>
          </a:p>
        </p:txBody>
      </p:sp>
      <p:sp>
        <p:nvSpPr>
          <p:cNvPr id="8" name="kubectl get pods and svc frame"/>
          <p:cNvSpPr/>
          <p:nvPr/>
        </p:nvSpPr>
        <p:spPr>
          <a:xfrm>
            <a:off x="6729984" y="1335024"/>
            <a:ext cx="4946904" cy="2271786"/>
          </a:xfrm>
          <a:prstGeom prst="roundRect">
            <a:avLst>
              <a:gd name="adj" fmla="val 2415"/>
            </a:avLst>
          </a:prstGeom>
          <a:solidFill>
            <a:schemeClr val="tx2"/>
          </a:solidFill>
          <a:ln w="12700">
            <a:solidFill>
              <a:srgbClr val="2C3260"/>
            </a:solidFill>
            <a:prstDash val="solid"/>
          </a:ln>
        </p:spPr>
      </p:sp>
      <p:pic>
        <p:nvPicPr>
          <p:cNvPr id="9" name="kubectl get pods and svc" descr="kubectl get pods and svc">    </p:cNvPr>
          <p:cNvPicPr>
            <a:picLocks noChangeAspect="1"/>
          </p:cNvPicPr>
          <p:nvPr/>
        </p:nvPicPr>
        <p:blipFill>
          <a:blip r:embed="rId2"/>
          <a:stretch>
            <a:fillRect/>
          </a:stretch>
        </p:blipFill>
        <p:spPr>
          <a:xfrm>
            <a:off x="6766560" y="1371600"/>
            <a:ext cx="4873752" cy="2198634"/>
          </a:xfrm>
          <a:prstGeom prst="rect">
            <a:avLst/>
          </a:prstGeom>
        </p:spPr>
      </p:pic>
      <p:sp>
        <p:nvSpPr>
          <p:cNvPr id="10" name="helm list and history frame"/>
          <p:cNvSpPr/>
          <p:nvPr/>
        </p:nvSpPr>
        <p:spPr>
          <a:xfrm>
            <a:off x="6729984" y="3807978"/>
            <a:ext cx="4946904" cy="942860"/>
          </a:xfrm>
          <a:prstGeom prst="roundRect">
            <a:avLst>
              <a:gd name="adj" fmla="val 5819"/>
            </a:avLst>
          </a:prstGeom>
          <a:solidFill>
            <a:schemeClr val="tx2"/>
          </a:solidFill>
          <a:ln w="12700">
            <a:solidFill>
              <a:srgbClr val="2C3260"/>
            </a:solidFill>
            <a:prstDash val="solid"/>
          </a:ln>
        </p:spPr>
      </p:sp>
      <p:pic>
        <p:nvPicPr>
          <p:cNvPr id="11" name="helm list and history" descr="helm list and history">    </p:cNvPr>
          <p:cNvPicPr>
            <a:picLocks noChangeAspect="1"/>
          </p:cNvPicPr>
          <p:nvPr/>
        </p:nvPicPr>
        <p:blipFill>
          <a:blip r:embed="rId3"/>
          <a:stretch>
            <a:fillRect/>
          </a:stretch>
        </p:blipFill>
        <p:spPr>
          <a:xfrm>
            <a:off x="6766560" y="3844554"/>
            <a:ext cx="4873752" cy="869708"/>
          </a:xfrm>
          <a:prstGeom prst="rect">
            <a:avLst/>
          </a:prstGeom>
        </p:spPr>
      </p:pic>
      <p:sp>
        <p:nvSpPr>
          <p:cNvPr id="12" name="card All Pods Running"/>
          <p:cNvSpPr/>
          <p:nvPr/>
        </p:nvSpPr>
        <p:spPr>
          <a:xfrm>
            <a:off x="6766560" y="4988582"/>
            <a:ext cx="4873752" cy="1275058"/>
          </a:xfrm>
          <a:prstGeom prst="roundRect">
            <a:avLst>
              <a:gd name="adj" fmla="val 5737"/>
            </a:avLst>
          </a:prstGeom>
          <a:solidFill>
            <a:schemeClr val="tx2"/>
          </a:solidFill>
          <a:ln w="12700">
            <a:solidFill>
              <a:srgbClr val="2C3260"/>
            </a:solidFill>
            <a:prstDash val="solid"/>
          </a:ln>
        </p:spPr>
      </p:sp>
      <p:sp>
        <p:nvSpPr>
          <p:cNvPr id="13" name="card text All Pods Running"/>
          <p:cNvSpPr txBox="1"/>
          <p:nvPr/>
        </p:nvSpPr>
        <p:spPr>
          <a:xfrm>
            <a:off x="6949440" y="5098310"/>
            <a:ext cx="4507992" cy="1055602"/>
          </a:xfrm>
          <a:prstGeom prst="rect">
            <a:avLst/>
          </a:prstGeom>
          <a:noFill/>
          <a:ln/>
        </p:spPr>
        <p:txBody>
          <a:bodyPr wrap="square" lIns="0" tIns="0" rIns="0" bIns="0" rtlCol="0" anchor="t"/>
          <a:lstStyle/>
          <a:p>
            <a:pPr indent="0" marL="0">
              <a:spcAft>
                <a:spcPts val="400"/>
              </a:spcAft>
              <a:buNone/>
            </a:pPr>
            <a:r>
              <a:rPr lang="en-US" sz="1700" b="1" dirty="0">
                <a:solidFill>
                  <a:schemeClr val="accent2"/>
                </a:solidFill>
              </a:rPr>
              <a:t>All Pods Running</a:t>
            </a:r>
            <a:endParaRPr lang="en-US" sz="1700" dirty="0"/>
          </a:p>
          <a:p>
            <a:pPr indent="0" marL="0">
              <a:spcAft>
                <a:spcPts val="400"/>
              </a:spcAft>
              <a:buNone/>
            </a:pPr>
            <a:r>
              <a:rPr lang="en-US" sz="1400" dirty="0">
                <a:solidFill>
                  <a:schemeClr val="bg2"/>
                </a:solidFill>
              </a:rPr>
              <a:t>2 backend + 2 frontend replicas and PostgreSQL; helm test passed.</a:t>
            </a:r>
            <a:endParaRPr lang="en-US" sz="17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200" b="1" spc="300" kern="0" dirty="0">
                <a:solidFill>
                  <a:schemeClr val="accent6"/>
                </a:solidFill>
              </a:rPr>
              <a:t>M8 · INGRESS</a:t>
            </a:r>
            <a:endParaRPr lang="en-US" sz="1200" dirty="0"/>
          </a:p>
        </p:txBody>
      </p:sp>
      <p:sp>
        <p:nvSpPr>
          <p:cNvPr id="3" name="Text 0"/>
          <p:cNvSpPr/>
          <p:nvPr>
            <p:ph idx="101" type="title" hasCustomPrompt="1"/>
          </p:nvPr>
        </p:nvSpPr>
        <p:spPr>
          <a:xfrm>
            <a:off x="548640" y="548640"/>
            <a:ext cx="11064240" cy="640080"/>
          </a:xfrm>
          <a:prstGeom prst="rect">
            <a:avLst/>
          </a:prstGeom>
          <a:noFill/>
          <a:ln/>
        </p:spPr>
        <p:txBody>
          <a:bodyPr wrap="square" lIns="0" tIns="0" rIns="0" bIns="0" rtlCol="0" anchor="ctr"/>
          <a:lstStyle/>
          <a:p>
            <a:pPr algn="l" indent="0" marL="0">
              <a:buNone/>
            </a:pPr>
            <a:r>
              <a:rPr lang="en-US" sz="3200" b="1" dirty="0">
                <a:solidFill>
                  <a:schemeClr val="bg1"/>
                </a:solidFill>
              </a:rPr>
              <a:t>taskboard.local: / to React, /api to FastAPI</a:t>
            </a:r>
            <a:endParaRPr lang="en-US" sz="3200" dirty="0"/>
          </a:p>
        </p:txBody>
      </p:sp>
      <p:sp>
        <p:nvSpPr>
          <p:cNvPr id="4" name="TaskBoard via the Ingress hostname frame"/>
          <p:cNvSpPr/>
          <p:nvPr/>
        </p:nvSpPr>
        <p:spPr>
          <a:xfrm>
            <a:off x="512064" y="1335024"/>
            <a:ext cx="6565392" cy="3725037"/>
          </a:xfrm>
          <a:prstGeom prst="roundRect">
            <a:avLst>
              <a:gd name="adj" fmla="val 1473"/>
            </a:avLst>
          </a:prstGeom>
          <a:solidFill>
            <a:schemeClr val="tx2"/>
          </a:solidFill>
          <a:ln w="12700">
            <a:solidFill>
              <a:srgbClr val="2C3260"/>
            </a:solidFill>
            <a:prstDash val="solid"/>
          </a:ln>
        </p:spPr>
      </p:sp>
      <p:pic>
        <p:nvPicPr>
          <p:cNvPr id="5" name="TaskBoard via the Ingress hostname" descr="TaskBoard via the Ingress hostname">    </p:cNvPr>
          <p:cNvPicPr>
            <a:picLocks noChangeAspect="1"/>
          </p:cNvPicPr>
          <p:nvPr/>
        </p:nvPicPr>
        <p:blipFill>
          <a:blip r:embed="rId1"/>
          <a:stretch>
            <a:fillRect/>
          </a:stretch>
        </p:blipFill>
        <p:spPr>
          <a:xfrm>
            <a:off x="548640" y="1371600"/>
            <a:ext cx="6492240" cy="3651885"/>
          </a:xfrm>
          <a:prstGeom prst="rect">
            <a:avLst/>
          </a:prstGeom>
        </p:spPr>
      </p:pic>
      <p:sp>
        <p:nvSpPr>
          <p:cNvPr id="6" name="card http://taskboard.local"/>
          <p:cNvSpPr/>
          <p:nvPr/>
        </p:nvSpPr>
        <p:spPr>
          <a:xfrm>
            <a:off x="548640" y="5297805"/>
            <a:ext cx="6492240" cy="965835"/>
          </a:xfrm>
          <a:prstGeom prst="roundRect">
            <a:avLst>
              <a:gd name="adj" fmla="val 7574"/>
            </a:avLst>
          </a:prstGeom>
          <a:solidFill>
            <a:schemeClr val="tx2"/>
          </a:solidFill>
          <a:ln w="12700">
            <a:solidFill>
              <a:srgbClr val="2C3260"/>
            </a:solidFill>
            <a:prstDash val="solid"/>
          </a:ln>
        </p:spPr>
      </p:sp>
      <p:sp>
        <p:nvSpPr>
          <p:cNvPr id="7" name="card text http://taskboard.local"/>
          <p:cNvSpPr txBox="1"/>
          <p:nvPr/>
        </p:nvSpPr>
        <p:spPr>
          <a:xfrm>
            <a:off x="731520" y="5407533"/>
            <a:ext cx="6126480" cy="746379"/>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http://taskboard.local</a:t>
            </a:r>
            <a:endParaRPr lang="en-US" sz="1700" dirty="0"/>
          </a:p>
          <a:p>
            <a:pPr indent="0" marL="0">
              <a:spcAft>
                <a:spcPts val="400"/>
              </a:spcAft>
              <a:buNone/>
            </a:pPr>
            <a:r>
              <a:rPr lang="en-US" sz="1400" dirty="0">
                <a:solidFill>
                  <a:schemeClr val="bg2"/>
                </a:solidFill>
              </a:rPr>
              <a:t>Served by the Pods in the cluster; the pipeline card shows commit a7d670b and env minikube.</a:t>
            </a:r>
            <a:endParaRPr lang="en-US" sz="1700" dirty="0"/>
          </a:p>
        </p:txBody>
      </p:sp>
      <p:sp>
        <p:nvSpPr>
          <p:cNvPr id="8" name="kubectl get/describe ingress frame"/>
          <p:cNvSpPr/>
          <p:nvPr/>
        </p:nvSpPr>
        <p:spPr>
          <a:xfrm>
            <a:off x="7278624" y="1335024"/>
            <a:ext cx="4398264" cy="1703904"/>
          </a:xfrm>
          <a:prstGeom prst="roundRect">
            <a:avLst>
              <a:gd name="adj" fmla="val 3220"/>
            </a:avLst>
          </a:prstGeom>
          <a:solidFill>
            <a:schemeClr val="tx2"/>
          </a:solidFill>
          <a:ln w="12700">
            <a:solidFill>
              <a:srgbClr val="2C3260"/>
            </a:solidFill>
            <a:prstDash val="solid"/>
          </a:ln>
        </p:spPr>
      </p:sp>
      <p:pic>
        <p:nvPicPr>
          <p:cNvPr id="9" name="kubectl get/describe ingress" descr="kubectl get/describe ingress">    </p:cNvPr>
          <p:cNvPicPr>
            <a:picLocks noChangeAspect="1"/>
          </p:cNvPicPr>
          <p:nvPr/>
        </p:nvPicPr>
        <p:blipFill>
          <a:blip r:embed="rId2"/>
          <a:stretch>
            <a:fillRect/>
          </a:stretch>
        </p:blipFill>
        <p:spPr>
          <a:xfrm>
            <a:off x="7315200" y="1371600"/>
            <a:ext cx="4325112" cy="1630752"/>
          </a:xfrm>
          <a:prstGeom prst="rect">
            <a:avLst/>
          </a:prstGeom>
        </p:spPr>
      </p:pic>
      <p:sp>
        <p:nvSpPr>
          <p:cNvPr id="10" name="card Controller required"/>
          <p:cNvSpPr/>
          <p:nvPr/>
        </p:nvSpPr>
        <p:spPr>
          <a:xfrm>
            <a:off x="7315200" y="3276672"/>
            <a:ext cx="4325112" cy="2986968"/>
          </a:xfrm>
          <a:prstGeom prst="roundRect">
            <a:avLst>
              <a:gd name="adj" fmla="val 2449"/>
            </a:avLst>
          </a:prstGeom>
          <a:solidFill>
            <a:schemeClr val="tx2"/>
          </a:solidFill>
          <a:ln w="12700">
            <a:solidFill>
              <a:srgbClr val="2C3260"/>
            </a:solidFill>
            <a:prstDash val="solid"/>
          </a:ln>
        </p:spPr>
      </p:sp>
      <p:sp>
        <p:nvSpPr>
          <p:cNvPr id="11" name="card text Controller required"/>
          <p:cNvSpPr txBox="1"/>
          <p:nvPr/>
        </p:nvSpPr>
        <p:spPr>
          <a:xfrm>
            <a:off x="7498080" y="3386400"/>
            <a:ext cx="3959352" cy="2767512"/>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Controller required</a:t>
            </a:r>
            <a:endParaRPr lang="en-US" sz="1700" dirty="0"/>
          </a:p>
          <a:p>
            <a:pPr indent="0" marL="0">
              <a:spcAft>
                <a:spcPts val="400"/>
              </a:spcAft>
              <a:buNone/>
            </a:pPr>
            <a:r>
              <a:rPr lang="en-US" sz="1400" dirty="0">
                <a:solidFill>
                  <a:schemeClr val="bg2"/>
                </a:solidFill>
              </a:rPr>
              <a:t>An Ingress is only configuration. The NGINX ingress controller implements it here; values-eks.yaml uses Traefik behind an AWS load balancer.</a:t>
            </a:r>
            <a:endParaRPr lang="en-US" sz="17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200" b="1" spc="300" kern="0" dirty="0">
                <a:solidFill>
                  <a:schemeClr val="accent6"/>
                </a:solidFill>
              </a:rPr>
              <a:t>M8 · AUTOSCALING</a:t>
            </a:r>
            <a:endParaRPr lang="en-US" sz="1200" dirty="0"/>
          </a:p>
        </p:txBody>
      </p:sp>
      <p:sp>
        <p:nvSpPr>
          <p:cNvPr id="3" name="Text 0"/>
          <p:cNvSpPr/>
          <p:nvPr>
            <p:ph idx="101" type="title" hasCustomPrompt="1"/>
          </p:nvPr>
        </p:nvSpPr>
        <p:spPr>
          <a:xfrm>
            <a:off x="548640" y="548640"/>
            <a:ext cx="11064240" cy="640080"/>
          </a:xfrm>
          <a:prstGeom prst="rect">
            <a:avLst/>
          </a:prstGeom>
          <a:noFill/>
          <a:ln/>
        </p:spPr>
        <p:txBody>
          <a:bodyPr wrap="square" lIns="0" tIns="0" rIns="0" bIns="0" rtlCol="0" anchor="ctr"/>
          <a:lstStyle/>
          <a:p>
            <a:pPr algn="l" indent="0" marL="0">
              <a:buNone/>
            </a:pPr>
            <a:r>
              <a:rPr lang="en-US" sz="3200" b="1" dirty="0">
                <a:solidFill>
                  <a:schemeClr val="bg1"/>
                </a:solidFill>
              </a:rPr>
              <a:t>HPA scales the backend on CPU</a:t>
            </a:r>
            <a:endParaRPr lang="en-US" sz="3200" dirty="0"/>
          </a:p>
        </p:txBody>
      </p:sp>
      <p:sp>
        <p:nvSpPr>
          <p:cNvPr id="4" name="kubectl get hpa -w during the load test frame"/>
          <p:cNvSpPr/>
          <p:nvPr/>
        </p:nvSpPr>
        <p:spPr>
          <a:xfrm>
            <a:off x="512064" y="1335024"/>
            <a:ext cx="6688250" cy="4965192"/>
          </a:xfrm>
          <a:prstGeom prst="roundRect">
            <a:avLst>
              <a:gd name="adj" fmla="val 1105"/>
            </a:avLst>
          </a:prstGeom>
          <a:solidFill>
            <a:schemeClr val="tx2"/>
          </a:solidFill>
          <a:ln w="12700">
            <a:solidFill>
              <a:srgbClr val="2C3260"/>
            </a:solidFill>
            <a:prstDash val="solid"/>
          </a:ln>
        </p:spPr>
      </p:sp>
      <p:pic>
        <p:nvPicPr>
          <p:cNvPr id="5" name="kubectl get hpa -w during the load test" descr="kubectl get hpa -w during the load test">    </p:cNvPr>
          <p:cNvPicPr>
            <a:picLocks noChangeAspect="1"/>
          </p:cNvPicPr>
          <p:nvPr/>
        </p:nvPicPr>
        <p:blipFill>
          <a:blip r:embed="rId1"/>
          <a:stretch>
            <a:fillRect/>
          </a:stretch>
        </p:blipFill>
        <p:spPr>
          <a:xfrm>
            <a:off x="548640" y="1371600"/>
            <a:ext cx="6615098" cy="4892040"/>
          </a:xfrm>
          <a:prstGeom prst="rect">
            <a:avLst/>
          </a:prstGeom>
        </p:spPr>
      </p:pic>
      <p:sp>
        <p:nvSpPr>
          <p:cNvPr id="6" name="stat replicas under load (max 5)"/>
          <p:cNvSpPr txBox="1"/>
          <p:nvPr/>
        </p:nvSpPr>
        <p:spPr>
          <a:xfrm>
            <a:off x="7955280" y="1417320"/>
            <a:ext cx="3657600" cy="731520"/>
          </a:xfrm>
          <a:prstGeom prst="rect">
            <a:avLst/>
          </a:prstGeom>
          <a:noFill/>
          <a:ln/>
        </p:spPr>
        <p:txBody>
          <a:bodyPr wrap="square" lIns="0" tIns="0" rIns="0" bIns="0" rtlCol="0" anchor="ctr"/>
          <a:lstStyle/>
          <a:p>
            <a:pPr indent="0" marL="0">
              <a:buNone/>
            </a:pPr>
            <a:r>
              <a:rPr lang="en-US" sz="4400" b="1" dirty="0">
                <a:solidFill>
                  <a:schemeClr val="accent2"/>
                </a:solidFill>
              </a:rPr>
              <a:t>2 → 5</a:t>
            </a:r>
            <a:endParaRPr lang="en-US" sz="4400" dirty="0"/>
          </a:p>
        </p:txBody>
      </p:sp>
      <p:sp>
        <p:nvSpPr>
          <p:cNvPr id="7" name="stat label replicas under load (max 5)"/>
          <p:cNvSpPr txBox="1"/>
          <p:nvPr/>
        </p:nvSpPr>
        <p:spPr>
          <a:xfrm>
            <a:off x="7955280" y="2148840"/>
            <a:ext cx="3657600" cy="457200"/>
          </a:xfrm>
          <a:prstGeom prst="rect">
            <a:avLst/>
          </a:prstGeom>
          <a:noFill/>
          <a:ln/>
        </p:spPr>
        <p:txBody>
          <a:bodyPr wrap="square" lIns="0" tIns="0" rIns="0" bIns="0" rtlCol="0" anchor="t"/>
          <a:lstStyle/>
          <a:p>
            <a:pPr indent="0" marL="0">
              <a:buNone/>
            </a:pPr>
            <a:r>
              <a:rPr lang="en-US" sz="1400" dirty="0">
                <a:solidFill>
                  <a:schemeClr val="bg2"/>
                </a:solidFill>
              </a:rPr>
              <a:t>replicas under load (max 5)</a:t>
            </a:r>
            <a:endParaRPr lang="en-US" sz="1400" dirty="0"/>
          </a:p>
        </p:txBody>
      </p:sp>
      <p:sp>
        <p:nvSpPr>
          <p:cNvPr id="8" name="stat CPU at peak vs a 50% target"/>
          <p:cNvSpPr txBox="1"/>
          <p:nvPr/>
        </p:nvSpPr>
        <p:spPr>
          <a:xfrm>
            <a:off x="7955280" y="2971800"/>
            <a:ext cx="3657600" cy="731520"/>
          </a:xfrm>
          <a:prstGeom prst="rect">
            <a:avLst/>
          </a:prstGeom>
          <a:noFill/>
          <a:ln/>
        </p:spPr>
        <p:txBody>
          <a:bodyPr wrap="square" lIns="0" tIns="0" rIns="0" bIns="0" rtlCol="0" anchor="ctr"/>
          <a:lstStyle/>
          <a:p>
            <a:pPr indent="0" marL="0">
              <a:buNone/>
            </a:pPr>
            <a:r>
              <a:rPr lang="en-US" sz="4400" b="1" dirty="0">
                <a:solidFill>
                  <a:schemeClr val="accent3"/>
                </a:solidFill>
              </a:rPr>
              <a:t>436%</a:t>
            </a:r>
            <a:endParaRPr lang="en-US" sz="4400" dirty="0"/>
          </a:p>
        </p:txBody>
      </p:sp>
      <p:sp>
        <p:nvSpPr>
          <p:cNvPr id="9" name="stat label CPU at peak vs a 50% target"/>
          <p:cNvSpPr txBox="1"/>
          <p:nvPr/>
        </p:nvSpPr>
        <p:spPr>
          <a:xfrm>
            <a:off x="7955280" y="3703320"/>
            <a:ext cx="3657600" cy="457200"/>
          </a:xfrm>
          <a:prstGeom prst="rect">
            <a:avLst/>
          </a:prstGeom>
          <a:noFill/>
          <a:ln/>
        </p:spPr>
        <p:txBody>
          <a:bodyPr wrap="square" lIns="0" tIns="0" rIns="0" bIns="0" rtlCol="0" anchor="t"/>
          <a:lstStyle/>
          <a:p>
            <a:pPr indent="0" marL="0">
              <a:buNone/>
            </a:pPr>
            <a:r>
              <a:rPr lang="en-US" sz="1400" dirty="0">
                <a:solidFill>
                  <a:schemeClr val="bg2"/>
                </a:solidFill>
              </a:rPr>
              <a:t>CPU at peak vs a 50% target</a:t>
            </a:r>
            <a:endParaRPr lang="en-US" sz="1400" dirty="0"/>
          </a:p>
        </p:txBody>
      </p:sp>
      <p:sp>
        <p:nvSpPr>
          <p:cNvPr id="10" name="stat back to minimum about 5 minutes after the load stopped"/>
          <p:cNvSpPr txBox="1"/>
          <p:nvPr/>
        </p:nvSpPr>
        <p:spPr>
          <a:xfrm>
            <a:off x="7955280" y="4526280"/>
            <a:ext cx="3657600" cy="731520"/>
          </a:xfrm>
          <a:prstGeom prst="rect">
            <a:avLst/>
          </a:prstGeom>
          <a:noFill/>
          <a:ln/>
        </p:spPr>
        <p:txBody>
          <a:bodyPr wrap="square" lIns="0" tIns="0" rIns="0" bIns="0" rtlCol="0" anchor="ctr"/>
          <a:lstStyle/>
          <a:p>
            <a:pPr indent="0" marL="0">
              <a:buNone/>
            </a:pPr>
            <a:r>
              <a:rPr lang="en-US" sz="4400" b="1" dirty="0">
                <a:solidFill>
                  <a:schemeClr val="accent5"/>
                </a:solidFill>
              </a:rPr>
              <a:t>→ 2</a:t>
            </a:r>
            <a:endParaRPr lang="en-US" sz="4400" dirty="0"/>
          </a:p>
        </p:txBody>
      </p:sp>
      <p:sp>
        <p:nvSpPr>
          <p:cNvPr id="11" name="stat label back to minimum about 5 minutes after the load stopped"/>
          <p:cNvSpPr txBox="1"/>
          <p:nvPr/>
        </p:nvSpPr>
        <p:spPr>
          <a:xfrm>
            <a:off x="7955280" y="5257800"/>
            <a:ext cx="3657600" cy="457200"/>
          </a:xfrm>
          <a:prstGeom prst="rect">
            <a:avLst/>
          </a:prstGeom>
          <a:noFill/>
          <a:ln/>
        </p:spPr>
        <p:txBody>
          <a:bodyPr wrap="square" lIns="0" tIns="0" rIns="0" bIns="0" rtlCol="0" anchor="t"/>
          <a:lstStyle/>
          <a:p>
            <a:pPr indent="0" marL="0">
              <a:buNone/>
            </a:pPr>
            <a:r>
              <a:rPr lang="en-US" sz="1400" dirty="0">
                <a:solidFill>
                  <a:schemeClr val="bg2"/>
                </a:solidFill>
              </a:rPr>
              <a:t>back to minimum about 5 minutes after the load stopped</a:t>
            </a:r>
            <a:endParaRPr lang="en-US" sz="14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200" b="1" spc="300" kern="0" dirty="0">
                <a:solidFill>
                  <a:schemeClr val="accent6"/>
                </a:solidFill>
              </a:rPr>
              <a:t>M9 · OBSERVABILITY</a:t>
            </a:r>
            <a:endParaRPr lang="en-US" sz="1200" dirty="0"/>
          </a:p>
        </p:txBody>
      </p:sp>
      <p:sp>
        <p:nvSpPr>
          <p:cNvPr id="3" name="Text 0"/>
          <p:cNvSpPr/>
          <p:nvPr>
            <p:ph idx="101" type="title" hasCustomPrompt="1"/>
          </p:nvPr>
        </p:nvSpPr>
        <p:spPr>
          <a:xfrm>
            <a:off x="548640" y="548640"/>
            <a:ext cx="11064240" cy="640080"/>
          </a:xfrm>
          <a:prstGeom prst="rect">
            <a:avLst/>
          </a:prstGeom>
          <a:noFill/>
          <a:ln/>
        </p:spPr>
        <p:txBody>
          <a:bodyPr wrap="square" lIns="0" tIns="0" rIns="0" bIns="0" rtlCol="0" anchor="ctr"/>
          <a:lstStyle/>
          <a:p>
            <a:pPr algn="l" indent="0" marL="0">
              <a:buNone/>
            </a:pPr>
            <a:r>
              <a:rPr lang="en-US" sz="3200" b="1" dirty="0">
                <a:solidFill>
                  <a:schemeClr val="bg1"/>
                </a:solidFill>
              </a:rPr>
              <a:t>Prometheus scrapes /metrics from every backend Pod</a:t>
            </a:r>
            <a:endParaRPr lang="en-US" sz="3200" dirty="0"/>
          </a:p>
        </p:txBody>
      </p:sp>
      <p:sp>
        <p:nvSpPr>
          <p:cNvPr id="4" name="Prometheus targets: taskboard-backend UP frame"/>
          <p:cNvSpPr/>
          <p:nvPr/>
        </p:nvSpPr>
        <p:spPr>
          <a:xfrm>
            <a:off x="512064" y="1335024"/>
            <a:ext cx="7022592" cy="2389632"/>
          </a:xfrm>
          <a:prstGeom prst="roundRect">
            <a:avLst>
              <a:gd name="adj" fmla="val 2296"/>
            </a:avLst>
          </a:prstGeom>
          <a:solidFill>
            <a:schemeClr val="tx2"/>
          </a:solidFill>
          <a:ln w="12700">
            <a:solidFill>
              <a:srgbClr val="2C3260"/>
            </a:solidFill>
            <a:prstDash val="solid"/>
          </a:ln>
        </p:spPr>
      </p:sp>
      <p:pic>
        <p:nvPicPr>
          <p:cNvPr id="5" name="Prometheus targets: taskboard-backend UP" descr="Prometheus targets: taskboard-backend UP">    </p:cNvPr>
          <p:cNvPicPr>
            <a:picLocks noChangeAspect="1"/>
          </p:cNvPicPr>
          <p:nvPr/>
        </p:nvPicPr>
        <p:blipFill>
          <a:blip r:embed="rId1"/>
          <a:stretch>
            <a:fillRect/>
          </a:stretch>
        </p:blipFill>
        <p:spPr>
          <a:xfrm>
            <a:off x="548640" y="1371600"/>
            <a:ext cx="6949440" cy="2316480"/>
          </a:xfrm>
          <a:prstGeom prst="rect">
            <a:avLst/>
          </a:prstGeom>
        </p:spPr>
      </p:pic>
      <p:sp>
        <p:nvSpPr>
          <p:cNvPr id="6" name="/metrics output frame"/>
          <p:cNvSpPr/>
          <p:nvPr/>
        </p:nvSpPr>
        <p:spPr>
          <a:xfrm>
            <a:off x="512064" y="3925824"/>
            <a:ext cx="5182827" cy="2374392"/>
          </a:xfrm>
          <a:prstGeom prst="roundRect">
            <a:avLst>
              <a:gd name="adj" fmla="val 2311"/>
            </a:avLst>
          </a:prstGeom>
          <a:solidFill>
            <a:schemeClr val="tx2"/>
          </a:solidFill>
          <a:ln w="12700">
            <a:solidFill>
              <a:srgbClr val="2C3260"/>
            </a:solidFill>
            <a:prstDash val="solid"/>
          </a:ln>
        </p:spPr>
      </p:sp>
      <p:pic>
        <p:nvPicPr>
          <p:cNvPr id="7" name="/metrics output" descr="/metrics output">    </p:cNvPr>
          <p:cNvPicPr>
            <a:picLocks noChangeAspect="1"/>
          </p:cNvPicPr>
          <p:nvPr/>
        </p:nvPicPr>
        <p:blipFill>
          <a:blip r:embed="rId2"/>
          <a:stretch>
            <a:fillRect/>
          </a:stretch>
        </p:blipFill>
        <p:spPr>
          <a:xfrm>
            <a:off x="548640" y="3962400"/>
            <a:ext cx="5109675" cy="2301240"/>
          </a:xfrm>
          <a:prstGeom prst="rect">
            <a:avLst/>
          </a:prstGeom>
        </p:spPr>
      </p:pic>
      <p:sp>
        <p:nvSpPr>
          <p:cNvPr id="8" name="card ServiceMonitor"/>
          <p:cNvSpPr/>
          <p:nvPr/>
        </p:nvSpPr>
        <p:spPr>
          <a:xfrm>
            <a:off x="7772400" y="1371600"/>
            <a:ext cx="3867912" cy="1554480"/>
          </a:xfrm>
          <a:prstGeom prst="roundRect">
            <a:avLst>
              <a:gd name="adj" fmla="val 4706"/>
            </a:avLst>
          </a:prstGeom>
          <a:solidFill>
            <a:schemeClr val="tx2"/>
          </a:solidFill>
          <a:ln w="12700">
            <a:solidFill>
              <a:srgbClr val="2C3260"/>
            </a:solidFill>
            <a:prstDash val="solid"/>
          </a:ln>
        </p:spPr>
      </p:sp>
      <p:sp>
        <p:nvSpPr>
          <p:cNvPr id="9" name="card text ServiceMonitor"/>
          <p:cNvSpPr txBox="1"/>
          <p:nvPr/>
        </p:nvSpPr>
        <p:spPr>
          <a:xfrm>
            <a:off x="7955280" y="1481328"/>
            <a:ext cx="3502152" cy="1335024"/>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ServiceMonitor</a:t>
            </a:r>
            <a:endParaRPr lang="en-US" sz="1700" dirty="0"/>
          </a:p>
          <a:p>
            <a:pPr indent="0" marL="0">
              <a:spcAft>
                <a:spcPts val="400"/>
              </a:spcAft>
              <a:buNone/>
            </a:pPr>
            <a:r>
              <a:rPr lang="en-US" sz="1400" dirty="0">
                <a:solidFill>
                  <a:schemeClr val="bg2"/>
                </a:solidFill>
              </a:rPr>
              <a:t>Shipped in the Helm chart; tells the Prometheus Operator to scrape /metrics on every backend Pod. All targets UP.</a:t>
            </a:r>
            <a:endParaRPr lang="en-US" sz="1700" dirty="0"/>
          </a:p>
        </p:txBody>
      </p:sp>
      <p:sp>
        <p:nvSpPr>
          <p:cNvPr id="10" name="card Alerts"/>
          <p:cNvSpPr/>
          <p:nvPr/>
        </p:nvSpPr>
        <p:spPr>
          <a:xfrm>
            <a:off x="7772400" y="3154680"/>
            <a:ext cx="3867912" cy="1463040"/>
          </a:xfrm>
          <a:prstGeom prst="roundRect">
            <a:avLst>
              <a:gd name="adj" fmla="val 5000"/>
            </a:avLst>
          </a:prstGeom>
          <a:solidFill>
            <a:schemeClr val="tx2"/>
          </a:solidFill>
          <a:ln w="12700">
            <a:solidFill>
              <a:srgbClr val="2C3260"/>
            </a:solidFill>
            <a:prstDash val="solid"/>
          </a:ln>
        </p:spPr>
      </p:sp>
      <p:sp>
        <p:nvSpPr>
          <p:cNvPr id="11" name="card text Alerts"/>
          <p:cNvSpPr txBox="1"/>
          <p:nvPr/>
        </p:nvSpPr>
        <p:spPr>
          <a:xfrm>
            <a:off x="7955280" y="3264408"/>
            <a:ext cx="3502152" cy="1243584"/>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Alerts</a:t>
            </a:r>
            <a:endParaRPr lang="en-US" sz="1700" dirty="0"/>
          </a:p>
          <a:p>
            <a:pPr indent="0" marL="0">
              <a:spcAft>
                <a:spcPts val="400"/>
              </a:spcAft>
              <a:buNone/>
            </a:pPr>
            <a:r>
              <a:rPr lang="en-US" sz="1400" dirty="0">
                <a:solidFill>
                  <a:schemeClr val="bg2"/>
                </a:solidFill>
              </a:rPr>
              <a:t>PrometheusRule: backend down, 5xx rate above 5%, p95 latency above 500 ms.</a:t>
            </a:r>
            <a:endParaRPr lang="en-US" sz="1700" dirty="0"/>
          </a:p>
        </p:txBody>
      </p:sp>
      <p:sp>
        <p:nvSpPr>
          <p:cNvPr id="12" name="card Business metrics"/>
          <p:cNvSpPr/>
          <p:nvPr/>
        </p:nvSpPr>
        <p:spPr>
          <a:xfrm>
            <a:off x="7772400" y="4846320"/>
            <a:ext cx="3867912" cy="1417320"/>
          </a:xfrm>
          <a:prstGeom prst="roundRect">
            <a:avLst>
              <a:gd name="adj" fmla="val 5161"/>
            </a:avLst>
          </a:prstGeom>
          <a:solidFill>
            <a:schemeClr val="tx2"/>
          </a:solidFill>
          <a:ln w="12700">
            <a:solidFill>
              <a:srgbClr val="2C3260"/>
            </a:solidFill>
            <a:prstDash val="solid"/>
          </a:ln>
        </p:spPr>
      </p:sp>
      <p:sp>
        <p:nvSpPr>
          <p:cNvPr id="13" name="card text Business metrics"/>
          <p:cNvSpPr txBox="1"/>
          <p:nvPr/>
        </p:nvSpPr>
        <p:spPr>
          <a:xfrm>
            <a:off x="7955280" y="4956048"/>
            <a:ext cx="3502152" cy="1197864"/>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Business metrics</a:t>
            </a:r>
            <a:endParaRPr lang="en-US" sz="1700" dirty="0"/>
          </a:p>
          <a:p>
            <a:pPr indent="0" marL="0">
              <a:spcAft>
                <a:spcPts val="400"/>
              </a:spcAft>
              <a:buNone/>
            </a:pPr>
            <a:r>
              <a:rPr lang="en-US" sz="1400" dirty="0">
                <a:solidFill>
                  <a:schemeClr val="bg2"/>
                </a:solidFill>
              </a:rPr>
              <a:t>taskboard_tasks_created_total, plus completed and deleted counters.</a:t>
            </a:r>
            <a:endParaRPr lang="en-US" sz="17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200" b="1" spc="300" kern="0" dirty="0">
                <a:solidFill>
                  <a:schemeClr val="accent6"/>
                </a:solidFill>
              </a:rPr>
              <a:t>M9 · OBSERVABILITY</a:t>
            </a:r>
            <a:endParaRPr lang="en-US" sz="1200" dirty="0"/>
          </a:p>
        </p:txBody>
      </p:sp>
      <p:sp>
        <p:nvSpPr>
          <p:cNvPr id="3" name="Text 0"/>
          <p:cNvSpPr/>
          <p:nvPr>
            <p:ph idx="101" type="title" hasCustomPrompt="1"/>
          </p:nvPr>
        </p:nvSpPr>
        <p:spPr>
          <a:xfrm>
            <a:off x="548640" y="548640"/>
            <a:ext cx="11064240" cy="640080"/>
          </a:xfrm>
          <a:prstGeom prst="rect">
            <a:avLst/>
          </a:prstGeom>
          <a:noFill/>
          <a:ln/>
        </p:spPr>
        <p:txBody>
          <a:bodyPr wrap="square" lIns="0" tIns="0" rIns="0" bIns="0" rtlCol="0" anchor="ctr"/>
          <a:lstStyle/>
          <a:p>
            <a:pPr algn="l" indent="0" marL="0">
              <a:buNone/>
            </a:pPr>
            <a:r>
              <a:rPr lang="en-US" sz="3200" b="1" dirty="0">
                <a:solidFill>
                  <a:schemeClr val="bg1"/>
                </a:solidFill>
              </a:rPr>
              <a:t>Grafana: TaskBoard API overview during the load test</a:t>
            </a:r>
            <a:endParaRPr lang="en-US" sz="3200" dirty="0"/>
          </a:p>
        </p:txBody>
      </p:sp>
      <p:sp>
        <p:nvSpPr>
          <p:cNvPr id="4" name="Grafana dashboard: requests and latency frame"/>
          <p:cNvSpPr/>
          <p:nvPr/>
        </p:nvSpPr>
        <p:spPr>
          <a:xfrm>
            <a:off x="512064" y="1335024"/>
            <a:ext cx="5559552" cy="3159252"/>
          </a:xfrm>
          <a:prstGeom prst="roundRect">
            <a:avLst>
              <a:gd name="adj" fmla="val 1737"/>
            </a:avLst>
          </a:prstGeom>
          <a:solidFill>
            <a:schemeClr val="tx2"/>
          </a:solidFill>
          <a:ln w="12700">
            <a:solidFill>
              <a:srgbClr val="2C3260"/>
            </a:solidFill>
            <a:prstDash val="solid"/>
          </a:ln>
        </p:spPr>
      </p:sp>
      <p:pic>
        <p:nvPicPr>
          <p:cNvPr id="5" name="Grafana dashboard: requests and latency" descr="Grafana dashboard: requests and latency">    </p:cNvPr>
          <p:cNvPicPr>
            <a:picLocks noChangeAspect="1"/>
          </p:cNvPicPr>
          <p:nvPr/>
        </p:nvPicPr>
        <p:blipFill>
          <a:blip r:embed="rId1"/>
          <a:stretch>
            <a:fillRect/>
          </a:stretch>
        </p:blipFill>
        <p:spPr>
          <a:xfrm>
            <a:off x="548640" y="1371600"/>
            <a:ext cx="5486400" cy="3086100"/>
          </a:xfrm>
          <a:prstGeom prst="rect">
            <a:avLst/>
          </a:prstGeom>
        </p:spPr>
      </p:pic>
      <p:sp>
        <p:nvSpPr>
          <p:cNvPr id="6" name="Grafana dashboard: CPU per Pod and HPA replicas frame"/>
          <p:cNvSpPr/>
          <p:nvPr/>
        </p:nvSpPr>
        <p:spPr>
          <a:xfrm>
            <a:off x="6117336" y="1335024"/>
            <a:ext cx="5559552" cy="3159252"/>
          </a:xfrm>
          <a:prstGeom prst="roundRect">
            <a:avLst>
              <a:gd name="adj" fmla="val 1737"/>
            </a:avLst>
          </a:prstGeom>
          <a:solidFill>
            <a:schemeClr val="tx2"/>
          </a:solidFill>
          <a:ln w="12700">
            <a:solidFill>
              <a:srgbClr val="2C3260"/>
            </a:solidFill>
            <a:prstDash val="solid"/>
          </a:ln>
        </p:spPr>
      </p:sp>
      <p:pic>
        <p:nvPicPr>
          <p:cNvPr id="7" name="Grafana dashboard: CPU per Pod and HPA replicas" descr="Grafana dashboard: CPU per Pod and HPA replicas">    </p:cNvPr>
          <p:cNvPicPr>
            <a:picLocks noChangeAspect="1"/>
          </p:cNvPicPr>
          <p:nvPr/>
        </p:nvPicPr>
        <p:blipFill>
          <a:blip r:embed="rId2"/>
          <a:stretch>
            <a:fillRect/>
          </a:stretch>
        </p:blipFill>
        <p:spPr>
          <a:xfrm>
            <a:off x="6153912" y="1371600"/>
            <a:ext cx="5486400" cy="3086100"/>
          </a:xfrm>
          <a:prstGeom prst="rect">
            <a:avLst/>
          </a:prstGeom>
        </p:spPr>
      </p:pic>
      <p:sp>
        <p:nvSpPr>
          <p:cNvPr id="8" name="stat peak requests per second"/>
          <p:cNvSpPr txBox="1"/>
          <p:nvPr/>
        </p:nvSpPr>
        <p:spPr>
          <a:xfrm>
            <a:off x="548640" y="4800600"/>
            <a:ext cx="2651760" cy="731520"/>
          </a:xfrm>
          <a:prstGeom prst="rect">
            <a:avLst/>
          </a:prstGeom>
          <a:noFill/>
          <a:ln/>
        </p:spPr>
        <p:txBody>
          <a:bodyPr wrap="square" lIns="0" tIns="0" rIns="0" bIns="0" rtlCol="0" anchor="ctr"/>
          <a:lstStyle/>
          <a:p>
            <a:pPr indent="0" marL="0">
              <a:buNone/>
            </a:pPr>
            <a:r>
              <a:rPr lang="en-US" sz="4400" b="1" dirty="0">
                <a:solidFill>
                  <a:schemeClr val="accent1"/>
                </a:solidFill>
              </a:rPr>
              <a:t>~160/s</a:t>
            </a:r>
            <a:endParaRPr lang="en-US" sz="4400" dirty="0"/>
          </a:p>
        </p:txBody>
      </p:sp>
      <p:sp>
        <p:nvSpPr>
          <p:cNvPr id="9" name="stat label peak requests per second"/>
          <p:cNvSpPr txBox="1"/>
          <p:nvPr/>
        </p:nvSpPr>
        <p:spPr>
          <a:xfrm>
            <a:off x="548640" y="5532120"/>
            <a:ext cx="2651760" cy="457200"/>
          </a:xfrm>
          <a:prstGeom prst="rect">
            <a:avLst/>
          </a:prstGeom>
          <a:noFill/>
          <a:ln/>
        </p:spPr>
        <p:txBody>
          <a:bodyPr wrap="square" lIns="0" tIns="0" rIns="0" bIns="0" rtlCol="0" anchor="t"/>
          <a:lstStyle/>
          <a:p>
            <a:pPr indent="0" marL="0">
              <a:buNone/>
            </a:pPr>
            <a:r>
              <a:rPr lang="en-US" sz="1400" dirty="0">
                <a:solidFill>
                  <a:schemeClr val="bg2"/>
                </a:solidFill>
              </a:rPr>
              <a:t>peak requests per second</a:t>
            </a:r>
            <a:endParaRPr lang="en-US" sz="1400" dirty="0"/>
          </a:p>
        </p:txBody>
      </p:sp>
      <p:sp>
        <p:nvSpPr>
          <p:cNvPr id="10" name="stat 5xx responses"/>
          <p:cNvSpPr txBox="1"/>
          <p:nvPr/>
        </p:nvSpPr>
        <p:spPr>
          <a:xfrm>
            <a:off x="3364992" y="4800600"/>
            <a:ext cx="2651760" cy="731520"/>
          </a:xfrm>
          <a:prstGeom prst="rect">
            <a:avLst/>
          </a:prstGeom>
          <a:noFill/>
          <a:ln/>
        </p:spPr>
        <p:txBody>
          <a:bodyPr wrap="square" lIns="0" tIns="0" rIns="0" bIns="0" rtlCol="0" anchor="ctr"/>
          <a:lstStyle/>
          <a:p>
            <a:pPr indent="0" marL="0">
              <a:buNone/>
            </a:pPr>
            <a:r>
              <a:rPr lang="en-US" sz="4400" b="1" dirty="0">
                <a:solidFill>
                  <a:schemeClr val="accent2"/>
                </a:solidFill>
              </a:rPr>
              <a:t>0</a:t>
            </a:r>
            <a:endParaRPr lang="en-US" sz="4400" dirty="0"/>
          </a:p>
        </p:txBody>
      </p:sp>
      <p:sp>
        <p:nvSpPr>
          <p:cNvPr id="11" name="stat label 5xx responses"/>
          <p:cNvSpPr txBox="1"/>
          <p:nvPr/>
        </p:nvSpPr>
        <p:spPr>
          <a:xfrm>
            <a:off x="3364992" y="5532120"/>
            <a:ext cx="2651760" cy="457200"/>
          </a:xfrm>
          <a:prstGeom prst="rect">
            <a:avLst/>
          </a:prstGeom>
          <a:noFill/>
          <a:ln/>
        </p:spPr>
        <p:txBody>
          <a:bodyPr wrap="square" lIns="0" tIns="0" rIns="0" bIns="0" rtlCol="0" anchor="t"/>
          <a:lstStyle/>
          <a:p>
            <a:pPr indent="0" marL="0">
              <a:buNone/>
            </a:pPr>
            <a:r>
              <a:rPr lang="en-US" sz="1400" dirty="0">
                <a:solidFill>
                  <a:schemeClr val="bg2"/>
                </a:solidFill>
              </a:rPr>
              <a:t>5xx responses</a:t>
            </a:r>
            <a:endParaRPr lang="en-US" sz="1400" dirty="0"/>
          </a:p>
        </p:txBody>
      </p:sp>
      <p:sp>
        <p:nvSpPr>
          <p:cNvPr id="12" name="stat HPA replicas"/>
          <p:cNvSpPr txBox="1"/>
          <p:nvPr/>
        </p:nvSpPr>
        <p:spPr>
          <a:xfrm>
            <a:off x="6181344" y="4800600"/>
            <a:ext cx="2651760" cy="731520"/>
          </a:xfrm>
          <a:prstGeom prst="rect">
            <a:avLst/>
          </a:prstGeom>
          <a:noFill/>
          <a:ln/>
        </p:spPr>
        <p:txBody>
          <a:bodyPr wrap="square" lIns="0" tIns="0" rIns="0" bIns="0" rtlCol="0" anchor="ctr"/>
          <a:lstStyle/>
          <a:p>
            <a:pPr indent="0" marL="0">
              <a:buNone/>
            </a:pPr>
            <a:r>
              <a:rPr lang="en-US" sz="4400" b="1" dirty="0">
                <a:solidFill>
                  <a:schemeClr val="accent1"/>
                </a:solidFill>
              </a:rPr>
              <a:t>2 → 5 → 2</a:t>
            </a:r>
            <a:endParaRPr lang="en-US" sz="4400" dirty="0"/>
          </a:p>
        </p:txBody>
      </p:sp>
      <p:sp>
        <p:nvSpPr>
          <p:cNvPr id="13" name="stat label HPA replicas"/>
          <p:cNvSpPr txBox="1"/>
          <p:nvPr/>
        </p:nvSpPr>
        <p:spPr>
          <a:xfrm>
            <a:off x="6181344" y="5532120"/>
            <a:ext cx="2651760" cy="457200"/>
          </a:xfrm>
          <a:prstGeom prst="rect">
            <a:avLst/>
          </a:prstGeom>
          <a:noFill/>
          <a:ln/>
        </p:spPr>
        <p:txBody>
          <a:bodyPr wrap="square" lIns="0" tIns="0" rIns="0" bIns="0" rtlCol="0" anchor="t"/>
          <a:lstStyle/>
          <a:p>
            <a:pPr indent="0" marL="0">
              <a:buNone/>
            </a:pPr>
            <a:r>
              <a:rPr lang="en-US" sz="1400" dirty="0">
                <a:solidFill>
                  <a:schemeClr val="bg2"/>
                </a:solidFill>
              </a:rPr>
              <a:t>HPA replicas</a:t>
            </a:r>
            <a:endParaRPr lang="en-US" sz="1400" dirty="0"/>
          </a:p>
        </p:txBody>
      </p:sp>
      <p:sp>
        <p:nvSpPr>
          <p:cNvPr id="14" name="stat requests served, all 2xx"/>
          <p:cNvSpPr txBox="1"/>
          <p:nvPr/>
        </p:nvSpPr>
        <p:spPr>
          <a:xfrm>
            <a:off x="8997696" y="4800600"/>
            <a:ext cx="2651760" cy="731520"/>
          </a:xfrm>
          <a:prstGeom prst="rect">
            <a:avLst/>
          </a:prstGeom>
          <a:noFill/>
          <a:ln/>
        </p:spPr>
        <p:txBody>
          <a:bodyPr wrap="square" lIns="0" tIns="0" rIns="0" bIns="0" rtlCol="0" anchor="ctr"/>
          <a:lstStyle/>
          <a:p>
            <a:pPr indent="0" marL="0">
              <a:buNone/>
            </a:pPr>
            <a:r>
              <a:rPr lang="en-US" sz="4400" b="1" dirty="0">
                <a:solidFill>
                  <a:schemeClr val="accent1"/>
                </a:solidFill>
              </a:rPr>
              <a:t>~50k</a:t>
            </a:r>
            <a:endParaRPr lang="en-US" sz="4400" dirty="0"/>
          </a:p>
        </p:txBody>
      </p:sp>
      <p:sp>
        <p:nvSpPr>
          <p:cNvPr id="15" name="stat label requests served, all 2xx"/>
          <p:cNvSpPr txBox="1"/>
          <p:nvPr/>
        </p:nvSpPr>
        <p:spPr>
          <a:xfrm>
            <a:off x="8997696" y="5532120"/>
            <a:ext cx="2651760" cy="457200"/>
          </a:xfrm>
          <a:prstGeom prst="rect">
            <a:avLst/>
          </a:prstGeom>
          <a:noFill/>
          <a:ln/>
        </p:spPr>
        <p:txBody>
          <a:bodyPr wrap="square" lIns="0" tIns="0" rIns="0" bIns="0" rtlCol="0" anchor="t"/>
          <a:lstStyle/>
          <a:p>
            <a:pPr indent="0" marL="0">
              <a:buNone/>
            </a:pPr>
            <a:r>
              <a:rPr lang="en-US" sz="1400" dirty="0">
                <a:solidFill>
                  <a:schemeClr val="bg2"/>
                </a:solidFill>
              </a:rPr>
              <a:t>requests served, all 2xx</a:t>
            </a:r>
            <a:endParaRPr lang="en-US" sz="14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200" b="1" spc="300" kern="0" dirty="0">
                <a:solidFill>
                  <a:schemeClr val="accent6"/>
                </a:solidFill>
              </a:rPr>
              <a:t>TROUBLESHOOTING LAB</a:t>
            </a:r>
            <a:endParaRPr lang="en-US" sz="1200" dirty="0"/>
          </a:p>
        </p:txBody>
      </p:sp>
      <p:sp>
        <p:nvSpPr>
          <p:cNvPr id="3" name="Text 0"/>
          <p:cNvSpPr/>
          <p:nvPr>
            <p:ph idx="101" type="title" hasCustomPrompt="1"/>
          </p:nvPr>
        </p:nvSpPr>
        <p:spPr>
          <a:xfrm>
            <a:off x="548640" y="548640"/>
            <a:ext cx="11064240" cy="640080"/>
          </a:xfrm>
          <a:prstGeom prst="rect">
            <a:avLst/>
          </a:prstGeom>
          <a:noFill/>
          <a:ln/>
        </p:spPr>
        <p:txBody>
          <a:bodyPr wrap="square" lIns="0" tIns="0" rIns="0" bIns="0" rtlCol="0" anchor="ctr"/>
          <a:lstStyle/>
          <a:p>
            <a:pPr algn="l" indent="0" marL="0">
              <a:buNone/>
            </a:pPr>
            <a:r>
              <a:rPr lang="en-US" sz="3200" b="1" dirty="0">
                <a:solidFill>
                  <a:schemeClr val="bg1"/>
                </a:solidFill>
              </a:rPr>
              <a:t>Break it, diagnose it, fix it</a:t>
            </a:r>
            <a:endParaRPr lang="en-US" sz="3200" dirty="0"/>
          </a:p>
        </p:txBody>
      </p:sp>
      <p:sp>
        <p:nvSpPr>
          <p:cNvPr id="4" name="Lab 1: ImagePullBackOff frame"/>
          <p:cNvSpPr/>
          <p:nvPr/>
        </p:nvSpPr>
        <p:spPr>
          <a:xfrm>
            <a:off x="512064" y="1335024"/>
            <a:ext cx="5513832" cy="2725974"/>
          </a:xfrm>
          <a:prstGeom prst="roundRect">
            <a:avLst>
              <a:gd name="adj" fmla="val 2013"/>
            </a:avLst>
          </a:prstGeom>
          <a:solidFill>
            <a:schemeClr val="tx2"/>
          </a:solidFill>
          <a:ln w="12700">
            <a:solidFill>
              <a:srgbClr val="2C3260"/>
            </a:solidFill>
            <a:prstDash val="solid"/>
          </a:ln>
        </p:spPr>
      </p:sp>
      <p:pic>
        <p:nvPicPr>
          <p:cNvPr id="5" name="Lab 1: ImagePullBackOff" descr="Lab 1: ImagePullBackOff">    </p:cNvPr>
          <p:cNvPicPr>
            <a:picLocks noChangeAspect="1"/>
          </p:cNvPicPr>
          <p:nvPr/>
        </p:nvPicPr>
        <p:blipFill>
          <a:blip r:embed="rId1"/>
          <a:stretch>
            <a:fillRect/>
          </a:stretch>
        </p:blipFill>
        <p:spPr>
          <a:xfrm>
            <a:off x="548640" y="1371600"/>
            <a:ext cx="5440680" cy="2652822"/>
          </a:xfrm>
          <a:prstGeom prst="rect">
            <a:avLst/>
          </a:prstGeom>
        </p:spPr>
      </p:pic>
      <p:sp>
        <p:nvSpPr>
          <p:cNvPr id="6" name="Lab 2: Service without endpoints frame"/>
          <p:cNvSpPr/>
          <p:nvPr/>
        </p:nvSpPr>
        <p:spPr>
          <a:xfrm>
            <a:off x="6163056" y="1335024"/>
            <a:ext cx="5513832" cy="3142512"/>
          </a:xfrm>
          <a:prstGeom prst="roundRect">
            <a:avLst>
              <a:gd name="adj" fmla="val 1746"/>
            </a:avLst>
          </a:prstGeom>
          <a:solidFill>
            <a:schemeClr val="tx2"/>
          </a:solidFill>
          <a:ln w="12700">
            <a:solidFill>
              <a:srgbClr val="2C3260"/>
            </a:solidFill>
            <a:prstDash val="solid"/>
          </a:ln>
        </p:spPr>
      </p:sp>
      <p:pic>
        <p:nvPicPr>
          <p:cNvPr id="7" name="Lab 2: Service without endpoints" descr="Lab 2: Service without endpoints">    </p:cNvPr>
          <p:cNvPicPr>
            <a:picLocks noChangeAspect="1"/>
          </p:cNvPicPr>
          <p:nvPr/>
        </p:nvPicPr>
        <p:blipFill>
          <a:blip r:embed="rId2"/>
          <a:stretch>
            <a:fillRect/>
          </a:stretch>
        </p:blipFill>
        <p:spPr>
          <a:xfrm>
            <a:off x="6199632" y="1371600"/>
            <a:ext cx="5440680" cy="3069360"/>
          </a:xfrm>
          <a:prstGeom prst="rect">
            <a:avLst/>
          </a:prstGeom>
        </p:spPr>
      </p:pic>
      <p:sp>
        <p:nvSpPr>
          <p:cNvPr id="8" name="card ImagePullBackOff"/>
          <p:cNvSpPr/>
          <p:nvPr/>
        </p:nvSpPr>
        <p:spPr>
          <a:xfrm>
            <a:off x="548640" y="4754880"/>
            <a:ext cx="5440680" cy="1508760"/>
          </a:xfrm>
          <a:prstGeom prst="roundRect">
            <a:avLst>
              <a:gd name="adj" fmla="val 4848"/>
            </a:avLst>
          </a:prstGeom>
          <a:solidFill>
            <a:schemeClr val="tx2"/>
          </a:solidFill>
          <a:ln w="12700">
            <a:solidFill>
              <a:srgbClr val="2C3260"/>
            </a:solidFill>
            <a:prstDash val="solid"/>
          </a:ln>
        </p:spPr>
      </p:sp>
      <p:sp>
        <p:nvSpPr>
          <p:cNvPr id="9" name="card text ImagePullBackOff"/>
          <p:cNvSpPr txBox="1"/>
          <p:nvPr/>
        </p:nvSpPr>
        <p:spPr>
          <a:xfrm>
            <a:off x="731520" y="4864608"/>
            <a:ext cx="5074920" cy="1289304"/>
          </a:xfrm>
          <a:prstGeom prst="rect">
            <a:avLst/>
          </a:prstGeom>
          <a:noFill/>
          <a:ln/>
        </p:spPr>
        <p:txBody>
          <a:bodyPr wrap="square" lIns="0" tIns="0" rIns="0" bIns="0" rtlCol="0" anchor="t"/>
          <a:lstStyle/>
          <a:p>
            <a:pPr indent="0" marL="0">
              <a:spcAft>
                <a:spcPts val="400"/>
              </a:spcAft>
              <a:buNone/>
            </a:pPr>
            <a:r>
              <a:rPr lang="en-US" sz="1700" b="1" dirty="0">
                <a:solidFill>
                  <a:schemeClr val="accent4"/>
                </a:solidFill>
              </a:rPr>
              <a:t>ImagePullBackOff</a:t>
            </a:r>
            <a:endParaRPr lang="en-US" sz="1700" dirty="0"/>
          </a:p>
          <a:p>
            <a:pPr indent="0" marL="0">
              <a:spcAft>
                <a:spcPts val="400"/>
              </a:spcAft>
              <a:buNone/>
            </a:pPr>
            <a:r>
              <a:rPr lang="en-US" sz="1400" dirty="0">
                <a:solidFill>
                  <a:schemeClr val="bg2"/>
                </a:solidFill>
              </a:rPr>
              <a:t>Events say the tag 1.30-alpne was not found: a typo. Fixing the tag rolls out healthy Pods.</a:t>
            </a:r>
            <a:endParaRPr lang="en-US" sz="1700" dirty="0"/>
          </a:p>
        </p:txBody>
      </p:sp>
      <p:sp>
        <p:nvSpPr>
          <p:cNvPr id="10" name="card No endpoints"/>
          <p:cNvSpPr/>
          <p:nvPr/>
        </p:nvSpPr>
        <p:spPr>
          <a:xfrm>
            <a:off x="6199632" y="4754880"/>
            <a:ext cx="5440680" cy="1508760"/>
          </a:xfrm>
          <a:prstGeom prst="roundRect">
            <a:avLst>
              <a:gd name="adj" fmla="val 4848"/>
            </a:avLst>
          </a:prstGeom>
          <a:solidFill>
            <a:schemeClr val="tx2"/>
          </a:solidFill>
          <a:ln w="12700">
            <a:solidFill>
              <a:srgbClr val="2C3260"/>
            </a:solidFill>
            <a:prstDash val="solid"/>
          </a:ln>
        </p:spPr>
      </p:sp>
      <p:sp>
        <p:nvSpPr>
          <p:cNvPr id="11" name="card text No endpoints"/>
          <p:cNvSpPr txBox="1"/>
          <p:nvPr/>
        </p:nvSpPr>
        <p:spPr>
          <a:xfrm>
            <a:off x="6382512" y="4864608"/>
            <a:ext cx="5074920" cy="1289304"/>
          </a:xfrm>
          <a:prstGeom prst="rect">
            <a:avLst/>
          </a:prstGeom>
          <a:noFill/>
          <a:ln/>
        </p:spPr>
        <p:txBody>
          <a:bodyPr wrap="square" lIns="0" tIns="0" rIns="0" bIns="0" rtlCol="0" anchor="t"/>
          <a:lstStyle/>
          <a:p>
            <a:pPr indent="0" marL="0">
              <a:spcAft>
                <a:spcPts val="400"/>
              </a:spcAft>
              <a:buNone/>
            </a:pPr>
            <a:r>
              <a:rPr lang="en-US" sz="1700" b="1" dirty="0">
                <a:solidFill>
                  <a:schemeClr val="accent4"/>
                </a:solidFill>
              </a:rPr>
              <a:t>No endpoints</a:t>
            </a:r>
            <a:endParaRPr lang="en-US" sz="1700" dirty="0"/>
          </a:p>
          <a:p>
            <a:pPr indent="0" marL="0">
              <a:spcAft>
                <a:spcPts val="400"/>
              </a:spcAft>
              <a:buNone/>
            </a:pPr>
            <a:r>
              <a:rPr lang="en-US" sz="1400" dirty="0">
                <a:solidFill>
                  <a:schemeClr val="bg2"/>
                </a:solidFill>
              </a:rPr>
              <a:t>Pods Running, endpoints &lt;none&gt;. Selector app=web ≠ label app=web-frontend; fixing the selector restores traffic.</a:t>
            </a:r>
            <a:endParaRPr lang="en-US" sz="17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200" b="1" spc="300" kern="0" dirty="0">
                <a:solidFill>
                  <a:schemeClr val="accent6"/>
                </a:solidFill>
              </a:rPr>
              <a:t>M10 · LIVE DEMO</a:t>
            </a:r>
            <a:endParaRPr lang="en-US" sz="1200" dirty="0"/>
          </a:p>
        </p:txBody>
      </p:sp>
      <p:sp>
        <p:nvSpPr>
          <p:cNvPr id="3" name="Text 0"/>
          <p:cNvSpPr/>
          <p:nvPr>
            <p:ph idx="101" type="title" hasCustomPrompt="1"/>
          </p:nvPr>
        </p:nvSpPr>
        <p:spPr>
          <a:xfrm>
            <a:off x="548640" y="548640"/>
            <a:ext cx="11064240" cy="640080"/>
          </a:xfrm>
          <a:prstGeom prst="rect">
            <a:avLst/>
          </a:prstGeom>
          <a:noFill/>
          <a:ln/>
        </p:spPr>
        <p:txBody>
          <a:bodyPr wrap="square" lIns="0" tIns="0" rIns="0" bIns="0" rtlCol="0" anchor="ctr"/>
          <a:lstStyle/>
          <a:p>
            <a:pPr algn="l" indent="0" marL="0">
              <a:buNone/>
            </a:pPr>
            <a:r>
              <a:rPr lang="en-US" sz="3200" b="1" dirty="0">
                <a:solidFill>
                  <a:schemeClr val="bg1"/>
                </a:solidFill>
              </a:rPr>
              <a:t>Commit → image → helm upgrade → new revision</a:t>
            </a:r>
            <a:endParaRPr lang="en-US" sz="3200" dirty="0"/>
          </a:p>
        </p:txBody>
      </p:sp>
      <p:sp>
        <p:nvSpPr>
          <p:cNvPr id="4" name="git commit, build and helm upgrade frame"/>
          <p:cNvSpPr/>
          <p:nvPr/>
        </p:nvSpPr>
        <p:spPr>
          <a:xfrm>
            <a:off x="512064" y="1335024"/>
            <a:ext cx="7022592" cy="3138845"/>
          </a:xfrm>
          <a:prstGeom prst="roundRect">
            <a:avLst>
              <a:gd name="adj" fmla="val 1748"/>
            </a:avLst>
          </a:prstGeom>
          <a:solidFill>
            <a:schemeClr val="tx2"/>
          </a:solidFill>
          <a:ln w="12700">
            <a:solidFill>
              <a:srgbClr val="2C3260"/>
            </a:solidFill>
            <a:prstDash val="solid"/>
          </a:ln>
        </p:spPr>
      </p:sp>
      <p:pic>
        <p:nvPicPr>
          <p:cNvPr id="5" name="git commit, build and helm upgrade" descr="git commit, build and helm upgrade">    </p:cNvPr>
          <p:cNvPicPr>
            <a:picLocks noChangeAspect="1"/>
          </p:cNvPicPr>
          <p:nvPr/>
        </p:nvPicPr>
        <p:blipFill>
          <a:blip r:embed="rId1"/>
          <a:stretch>
            <a:fillRect/>
          </a:stretch>
        </p:blipFill>
        <p:spPr>
          <a:xfrm>
            <a:off x="548640" y="1371600"/>
            <a:ext cx="6949440" cy="3065693"/>
          </a:xfrm>
          <a:prstGeom prst="rect">
            <a:avLst/>
          </a:prstGeom>
        </p:spPr>
      </p:pic>
      <p:sp>
        <p:nvSpPr>
          <p:cNvPr id="6" name="Revision 2 live with commit 4595076 frame"/>
          <p:cNvSpPr/>
          <p:nvPr/>
        </p:nvSpPr>
        <p:spPr>
          <a:xfrm>
            <a:off x="7735824" y="1335024"/>
            <a:ext cx="3941064" cy="2248853"/>
          </a:xfrm>
          <a:prstGeom prst="roundRect">
            <a:avLst>
              <a:gd name="adj" fmla="val 2440"/>
            </a:avLst>
          </a:prstGeom>
          <a:solidFill>
            <a:schemeClr val="tx2"/>
          </a:solidFill>
          <a:ln w="12700">
            <a:solidFill>
              <a:srgbClr val="2C3260"/>
            </a:solidFill>
            <a:prstDash val="solid"/>
          </a:ln>
        </p:spPr>
      </p:sp>
      <p:pic>
        <p:nvPicPr>
          <p:cNvPr id="7" name="Revision 2 live with commit 4595076" descr="Revision 2 live with commit 4595076">    </p:cNvPr>
          <p:cNvPicPr>
            <a:picLocks noChangeAspect="1"/>
          </p:cNvPicPr>
          <p:nvPr/>
        </p:nvPicPr>
        <p:blipFill>
          <a:blip r:embed="rId2"/>
          <a:stretch>
            <a:fillRect/>
          </a:stretch>
        </p:blipFill>
        <p:spPr>
          <a:xfrm>
            <a:off x="7772400" y="1371600"/>
            <a:ext cx="3867912" cy="2175701"/>
          </a:xfrm>
          <a:prstGeom prst="rect">
            <a:avLst/>
          </a:prstGeom>
        </p:spPr>
      </p:pic>
      <p:sp>
        <p:nvSpPr>
          <p:cNvPr id="8" name="card 1 · Commit"/>
          <p:cNvSpPr/>
          <p:nvPr/>
        </p:nvSpPr>
        <p:spPr>
          <a:xfrm>
            <a:off x="548640" y="4711613"/>
            <a:ext cx="3520440" cy="1552027"/>
          </a:xfrm>
          <a:prstGeom prst="roundRect">
            <a:avLst>
              <a:gd name="adj" fmla="val 4713"/>
            </a:avLst>
          </a:prstGeom>
          <a:solidFill>
            <a:schemeClr val="tx2"/>
          </a:solidFill>
          <a:ln w="12700">
            <a:solidFill>
              <a:srgbClr val="2C3260"/>
            </a:solidFill>
            <a:prstDash val="solid"/>
          </a:ln>
        </p:spPr>
      </p:sp>
      <p:sp>
        <p:nvSpPr>
          <p:cNvPr id="9" name="card text 1 · Commit"/>
          <p:cNvSpPr txBox="1"/>
          <p:nvPr/>
        </p:nvSpPr>
        <p:spPr>
          <a:xfrm>
            <a:off x="731520" y="4821341"/>
            <a:ext cx="3154680" cy="1332571"/>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1 · Commit</a:t>
            </a:r>
            <a:endParaRPr lang="en-US" sz="1700" dirty="0"/>
          </a:p>
          <a:p>
            <a:pPr indent="0" marL="0">
              <a:spcAft>
                <a:spcPts val="400"/>
              </a:spcAft>
              <a:buNone/>
            </a:pPr>
            <a:r>
              <a:rPr lang="en-US" sz="1400" dirty="0">
                <a:solidFill>
                  <a:schemeClr val="bg2"/>
                </a:solidFill>
              </a:rPr>
              <a:t>4595076 renames the dashboard heading.</a:t>
            </a:r>
            <a:endParaRPr lang="en-US" sz="1700" dirty="0"/>
          </a:p>
        </p:txBody>
      </p:sp>
      <p:sp>
        <p:nvSpPr>
          <p:cNvPr id="10" name="card 2 · Image + helm upgrade"/>
          <p:cNvSpPr/>
          <p:nvPr/>
        </p:nvSpPr>
        <p:spPr>
          <a:xfrm>
            <a:off x="4334256" y="4711613"/>
            <a:ext cx="3520440" cy="1552027"/>
          </a:xfrm>
          <a:prstGeom prst="roundRect">
            <a:avLst>
              <a:gd name="adj" fmla="val 4713"/>
            </a:avLst>
          </a:prstGeom>
          <a:solidFill>
            <a:schemeClr val="tx2"/>
          </a:solidFill>
          <a:ln w="12700">
            <a:solidFill>
              <a:srgbClr val="2C3260"/>
            </a:solidFill>
            <a:prstDash val="solid"/>
          </a:ln>
        </p:spPr>
      </p:sp>
      <p:sp>
        <p:nvSpPr>
          <p:cNvPr id="11" name="card text 2 · Image + helm upgrade"/>
          <p:cNvSpPr txBox="1"/>
          <p:nvPr/>
        </p:nvSpPr>
        <p:spPr>
          <a:xfrm>
            <a:off x="4517136" y="4821341"/>
            <a:ext cx="3154680" cy="1332571"/>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2 · Image + helm upgrade</a:t>
            </a:r>
            <a:endParaRPr lang="en-US" sz="1700" dirty="0"/>
          </a:p>
          <a:p>
            <a:pPr indent="0" marL="0">
              <a:spcAft>
                <a:spcPts val="400"/>
              </a:spcAft>
              <a:buNone/>
            </a:pPr>
            <a:r>
              <a:rPr lang="en-US" sz="1400" dirty="0">
                <a:solidFill>
                  <a:schemeClr val="bg2"/>
                </a:solidFill>
              </a:rPr>
              <a:t>New SHA tag, revision 2; maxUnavailable: 0, so no downtime.</a:t>
            </a:r>
            <a:endParaRPr lang="en-US" sz="1700" dirty="0"/>
          </a:p>
        </p:txBody>
      </p:sp>
      <p:sp>
        <p:nvSpPr>
          <p:cNvPr id="12" name="card 3 · Rollback ready"/>
          <p:cNvSpPr/>
          <p:nvPr/>
        </p:nvSpPr>
        <p:spPr>
          <a:xfrm>
            <a:off x="8119872" y="4711613"/>
            <a:ext cx="3520440" cy="1552027"/>
          </a:xfrm>
          <a:prstGeom prst="roundRect">
            <a:avLst>
              <a:gd name="adj" fmla="val 4713"/>
            </a:avLst>
          </a:prstGeom>
          <a:solidFill>
            <a:schemeClr val="tx2"/>
          </a:solidFill>
          <a:ln w="12700">
            <a:solidFill>
              <a:srgbClr val="2C3260"/>
            </a:solidFill>
            <a:prstDash val="solid"/>
          </a:ln>
        </p:spPr>
      </p:sp>
      <p:sp>
        <p:nvSpPr>
          <p:cNvPr id="13" name="card text 3 · Rollback ready"/>
          <p:cNvSpPr txBox="1"/>
          <p:nvPr/>
        </p:nvSpPr>
        <p:spPr>
          <a:xfrm>
            <a:off x="8302752" y="4821341"/>
            <a:ext cx="3154680" cy="1332571"/>
          </a:xfrm>
          <a:prstGeom prst="rect">
            <a:avLst/>
          </a:prstGeom>
          <a:noFill/>
          <a:ln/>
        </p:spPr>
        <p:txBody>
          <a:bodyPr wrap="square" lIns="0" tIns="0" rIns="0" bIns="0" rtlCol="0" anchor="t"/>
          <a:lstStyle/>
          <a:p>
            <a:pPr indent="0" marL="0">
              <a:spcAft>
                <a:spcPts val="400"/>
              </a:spcAft>
              <a:buNone/>
            </a:pPr>
            <a:r>
              <a:rPr lang="en-US" sz="1700" b="1" dirty="0">
                <a:solidFill>
                  <a:schemeClr val="bg1"/>
                </a:solidFill>
              </a:rPr>
              <a:t>3 · Rollback ready</a:t>
            </a:r>
            <a:endParaRPr lang="en-US" sz="1700" dirty="0"/>
          </a:p>
          <a:p>
            <a:pPr indent="0" marL="0">
              <a:spcAft>
                <a:spcPts val="400"/>
              </a:spcAft>
              <a:buNone/>
            </a:pPr>
            <a:r>
              <a:rPr lang="en-US" sz="1400" dirty="0">
                <a:solidFill>
                  <a:schemeClr val="bg2"/>
                </a:solidFill>
              </a:rPr>
              <a:t>Revision 1 is kept: helm rollback taskboard 1.</a:t>
            </a:r>
            <a:endParaRPr lang="en-US" sz="1700" dirty="0"/>
          </a:p>
        </p:txBody>
      </p:sp>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200" b="1" spc="300" kern="0" dirty="0">
                <a:solidFill>
                  <a:schemeClr val="accent6"/>
                </a:solidFill>
              </a:rPr>
              <a:t>RUBRIC COVERAGE</a:t>
            </a:r>
            <a:endParaRPr lang="en-US" sz="1200" dirty="0"/>
          </a:p>
        </p:txBody>
      </p:sp>
      <p:sp>
        <p:nvSpPr>
          <p:cNvPr id="3" name="Text 0"/>
          <p:cNvSpPr/>
          <p:nvPr>
            <p:ph idx="101" type="title" hasCustomPrompt="1"/>
          </p:nvPr>
        </p:nvSpPr>
        <p:spPr>
          <a:xfrm>
            <a:off x="548640" y="548640"/>
            <a:ext cx="11064240" cy="640080"/>
          </a:xfrm>
          <a:prstGeom prst="rect">
            <a:avLst/>
          </a:prstGeom>
          <a:noFill/>
          <a:ln/>
        </p:spPr>
        <p:txBody>
          <a:bodyPr wrap="square" lIns="0" tIns="0" rIns="0" bIns="0" rtlCol="0" anchor="ctr"/>
          <a:lstStyle/>
          <a:p>
            <a:pPr algn="l" indent="0" marL="0">
              <a:buNone/>
            </a:pPr>
            <a:r>
              <a:rPr lang="en-US" sz="3200" b="1" dirty="0">
                <a:solidFill>
                  <a:schemeClr val="bg1"/>
                </a:solidFill>
              </a:rPr>
              <a:t>Every module, with evidence</a:t>
            </a:r>
            <a:endParaRPr lang="en-US" sz="3200" dirty="0"/>
          </a:p>
        </p:txBody>
      </p:sp>
      <p:graphicFrame>
        <p:nvGraphicFramePr>
          <p:cNvPr id="24" name="rubric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377440"/>
                <a:gridCol w="7068312"/>
                <a:gridCol w="1645920"/>
              </a:tblGrid>
              <a:tr h="420624">
                <a:tc>
                  <a:txBody>
                    <a:bodyPr/>
                    <a:lstStyle/>
                    <a:p>
                      <a:pPr indent="0" marL="0">
                        <a:buNone/>
                      </a:pPr>
                      <a:r>
                        <a:rPr lang="en-US" sz="1400" b="1" dirty="0">
                          <a:solidFill>
                            <a:schemeClr val="accent6"/>
                          </a:solidFill>
                        </a:rPr>
                        <a:t>Module</a:t>
                      </a:r>
                      <a:endParaRPr lang="en-US" sz="1400" dirty="0"/>
                    </a:p>
                  </a:txBody>
                  <a:tcPr marL="109728" marR="109728" marT="0" marB="0" anchor="ctr">
                    <a:lnL w="9525" cap="flat" cmpd="sng" algn="ctr">
                      <a:solidFill>
                        <a:srgbClr val="2C3260"/>
                      </a:solidFill>
                      <a:prstDash val="solid"/>
                      <a:round/>
                      <a:headEnd type="none" w="med" len="med"/>
                      <a:tailEnd type="none" w="med" len="med"/>
                    </a:lnL>
                    <a:lnR w="9525" cap="flat" cmpd="sng" algn="ctr">
                      <a:solidFill>
                        <a:srgbClr val="2C3260"/>
                      </a:solidFill>
                      <a:prstDash val="solid"/>
                      <a:round/>
                      <a:headEnd type="none" w="med" len="med"/>
                      <a:tailEnd type="none" w="med" len="med"/>
                    </a:lnR>
                    <a:lnT w="9525" cap="flat" cmpd="sng" algn="ctr">
                      <a:solidFill>
                        <a:srgbClr val="2C3260"/>
                      </a:solidFill>
                      <a:prstDash val="solid"/>
                      <a:round/>
                      <a:headEnd type="none" w="med" len="med"/>
                      <a:tailEnd type="none" w="med" len="med"/>
                    </a:lnT>
                    <a:lnB w="9525" cap="flat" cmpd="sng" algn="ctr">
                      <a:solidFill>
                        <a:srgbClr val="2C3260"/>
                      </a:solidFill>
                      <a:prstDash val="solid"/>
                      <a:round/>
                      <a:headEnd type="none" w="med" len="med"/>
                      <a:tailEnd type="none" w="med" len="med"/>
                    </a:lnB>
                    <a:solidFill>
                      <a:schemeClr val="tx2"/>
                    </a:solidFill>
                  </a:tcPr>
                </a:tc>
                <a:tc>
                  <a:txBody>
                    <a:bodyPr/>
                    <a:lstStyle/>
                    <a:p>
                      <a:pPr indent="0" marL="0">
                        <a:buNone/>
                      </a:pPr>
                      <a:r>
                        <a:rPr lang="en-US" sz="1400" b="1" dirty="0">
                          <a:solidFill>
                            <a:schemeClr val="accent6"/>
                          </a:solidFill>
                        </a:rPr>
                        <a:t>Evidence</a:t>
                      </a:r>
                      <a:endParaRPr lang="en-US" sz="1400" dirty="0"/>
                    </a:p>
                  </a:txBody>
                  <a:tcPr marL="109728" marR="109728" marT="0" marB="0" anchor="ctr">
                    <a:lnL w="9525" cap="flat" cmpd="sng" algn="ctr">
                      <a:solidFill>
                        <a:srgbClr val="2C3260"/>
                      </a:solidFill>
                      <a:prstDash val="solid"/>
                      <a:round/>
                      <a:headEnd type="none" w="med" len="med"/>
                      <a:tailEnd type="none" w="med" len="med"/>
                    </a:lnL>
                    <a:lnR w="9525" cap="flat" cmpd="sng" algn="ctr">
                      <a:solidFill>
                        <a:srgbClr val="2C3260"/>
                      </a:solidFill>
                      <a:prstDash val="solid"/>
                      <a:round/>
                      <a:headEnd type="none" w="med" len="med"/>
                      <a:tailEnd type="none" w="med" len="med"/>
                    </a:lnR>
                    <a:lnT w="9525" cap="flat" cmpd="sng" algn="ctr">
                      <a:solidFill>
                        <a:srgbClr val="2C3260"/>
                      </a:solidFill>
                      <a:prstDash val="solid"/>
                      <a:round/>
                      <a:headEnd type="none" w="med" len="med"/>
                      <a:tailEnd type="none" w="med" len="med"/>
                    </a:lnT>
                    <a:lnB w="9525" cap="flat" cmpd="sng" algn="ctr">
                      <a:solidFill>
                        <a:srgbClr val="2C3260"/>
                      </a:solidFill>
                      <a:prstDash val="solid"/>
                      <a:round/>
                      <a:headEnd type="none" w="med" len="med"/>
                      <a:tailEnd type="none" w="med" len="med"/>
                    </a:lnB>
                    <a:solidFill>
                      <a:schemeClr val="tx2"/>
                    </a:solidFill>
                  </a:tcPr>
                </a:tc>
                <a:tc>
                  <a:txBody>
                    <a:bodyPr/>
                    <a:lstStyle/>
                    <a:p>
                      <a:pPr indent="0" marL="0">
                        <a:buNone/>
                      </a:pPr>
                      <a:r>
                        <a:rPr lang="en-US" sz="1400" b="1" dirty="0">
                          <a:solidFill>
                            <a:schemeClr val="accent6"/>
                          </a:solidFill>
                        </a:rPr>
                        <a:t>Status</a:t>
                      </a:r>
                      <a:endParaRPr lang="en-US" sz="1400" dirty="0"/>
                    </a:p>
                  </a:txBody>
                  <a:tcPr marL="109728" marR="109728" marT="0" marB="0" anchor="ctr">
                    <a:lnL w="9525" cap="flat" cmpd="sng" algn="ctr">
                      <a:solidFill>
                        <a:srgbClr val="2C3260"/>
                      </a:solidFill>
                      <a:prstDash val="solid"/>
                      <a:round/>
                      <a:headEnd type="none" w="med" len="med"/>
                      <a:tailEnd type="none" w="med" len="med"/>
                    </a:lnL>
                    <a:lnR w="9525" cap="flat" cmpd="sng" algn="ctr">
                      <a:solidFill>
                        <a:srgbClr val="2C3260"/>
                      </a:solidFill>
                      <a:prstDash val="solid"/>
                      <a:round/>
                      <a:headEnd type="none" w="med" len="med"/>
                      <a:tailEnd type="none" w="med" len="med"/>
                    </a:lnR>
                    <a:lnT w="9525" cap="flat" cmpd="sng" algn="ctr">
                      <a:solidFill>
                        <a:srgbClr val="2C3260"/>
                      </a:solidFill>
                      <a:prstDash val="solid"/>
                      <a:round/>
                      <a:headEnd type="none" w="med" len="med"/>
                      <a:tailEnd type="none" w="med" len="med"/>
                    </a:lnT>
                    <a:lnB w="9525" cap="flat" cmpd="sng" algn="ctr">
                      <a:solidFill>
                        <a:srgbClr val="2C3260"/>
                      </a:solidFill>
                      <a:prstDash val="solid"/>
                      <a:round/>
                      <a:headEnd type="none" w="med" len="med"/>
                      <a:tailEnd type="none" w="med" len="med"/>
                    </a:lnB>
                    <a:solidFill>
                      <a:schemeClr val="tx2"/>
                    </a:solidFill>
                  </a:tcPr>
                </a:tc>
              </a:tr>
              <a:tr h="420624">
                <a:tc>
                  <a:txBody>
                    <a:bodyPr/>
                    <a:lstStyle/>
                    <a:p>
                      <a:pPr indent="0" marL="0">
                        <a:buNone/>
                      </a:pPr>
                      <a:r>
                        <a:rPr lang="en-US" sz="1400" b="1" dirty="0">
                          <a:solidFill>
                            <a:schemeClr val="bg1"/>
                          </a:solidFill>
                        </a:rPr>
                        <a:t>M1 Application</a:t>
                      </a:r>
                      <a:endParaRPr lang="en-US" sz="1400" dirty="0"/>
                    </a:p>
                  </a:txBody>
                  <a:tcPr marL="109728" marR="109728" marT="0" marB="0" anchor="ctr">
                    <a:lnL w="9525" cap="flat" cmpd="sng" algn="ctr">
                      <a:solidFill>
                        <a:srgbClr val="2C3260"/>
                      </a:solidFill>
                      <a:prstDash val="solid"/>
                      <a:round/>
                      <a:headEnd type="none" w="med" len="med"/>
                      <a:tailEnd type="none" w="med" len="med"/>
                    </a:lnL>
                    <a:lnR w="9525" cap="flat" cmpd="sng" algn="ctr">
                      <a:solidFill>
                        <a:srgbClr val="2C3260"/>
                      </a:solidFill>
                      <a:prstDash val="solid"/>
                      <a:round/>
                      <a:headEnd type="none" w="med" len="med"/>
                      <a:tailEnd type="none" w="med" len="med"/>
                    </a:lnR>
                    <a:lnT w="9525" cap="flat" cmpd="sng" algn="ctr">
                      <a:solidFill>
                        <a:srgbClr val="2C3260"/>
                      </a:solidFill>
                      <a:prstDash val="solid"/>
                      <a:round/>
                      <a:headEnd type="none" w="med" len="med"/>
                      <a:tailEnd type="none" w="med" len="med"/>
                    </a:lnT>
                    <a:lnB w="9525" cap="flat" cmpd="sng" algn="ctr">
                      <a:solidFill>
                        <a:srgbClr val="2C3260"/>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rPr>
                        <a:t>Dashboard, Swagger CRUD, psql tasks table, Alembic migrations</a:t>
                      </a:r>
                      <a:endParaRPr lang="en-US" sz="1400" dirty="0"/>
                    </a:p>
                  </a:txBody>
                  <a:tcPr marL="109728" marR="109728" marT="0" marB="0" anchor="ctr">
                    <a:lnL w="9525" cap="flat" cmpd="sng" algn="ctr">
                      <a:solidFill>
                        <a:srgbClr val="2C3260"/>
                      </a:solidFill>
                      <a:prstDash val="solid"/>
                      <a:round/>
                      <a:headEnd type="none" w="med" len="med"/>
                      <a:tailEnd type="none" w="med" len="med"/>
                    </a:lnL>
                    <a:lnR w="9525" cap="flat" cmpd="sng" algn="ctr">
                      <a:solidFill>
                        <a:srgbClr val="2C3260"/>
                      </a:solidFill>
                      <a:prstDash val="solid"/>
                      <a:round/>
                      <a:headEnd type="none" w="med" len="med"/>
                      <a:tailEnd type="none" w="med" len="med"/>
                    </a:lnR>
                    <a:lnT w="9525" cap="flat" cmpd="sng" algn="ctr">
                      <a:solidFill>
                        <a:srgbClr val="2C3260"/>
                      </a:solidFill>
                      <a:prstDash val="solid"/>
                      <a:round/>
                      <a:headEnd type="none" w="med" len="med"/>
                      <a:tailEnd type="none" w="med" len="med"/>
                    </a:lnT>
                    <a:lnB w="9525" cap="flat" cmpd="sng" algn="ctr">
                      <a:solidFill>
                        <a:srgbClr val="2C3260"/>
                      </a:solidFill>
                      <a:prstDash val="solid"/>
                      <a:round/>
                      <a:headEnd type="none" w="med" len="med"/>
                      <a:tailEnd type="none" w="med" len="med"/>
                    </a:lnB>
                    <a:solidFill>
                      <a:schemeClr val="tx2"/>
                    </a:solidFill>
                  </a:tcPr>
                </a:tc>
                <a:tc>
                  <a:txBody>
                    <a:bodyPr/>
                    <a:lstStyle/>
                    <a:p>
                      <a:pPr indent="0" marL="0">
                        <a:buNone/>
                      </a:pPr>
                      <a:r>
                        <a:rPr lang="en-US" sz="1400" b="1" dirty="0">
                          <a:solidFill>
                            <a:schemeClr val="accent2"/>
                          </a:solidFill>
                        </a:rPr>
                        <a:t>Shown</a:t>
                      </a:r>
                      <a:endParaRPr lang="en-US" sz="1400" dirty="0"/>
                    </a:p>
                  </a:txBody>
                  <a:tcPr marL="109728" marR="109728" marT="0" marB="0" anchor="ctr">
                    <a:lnL w="9525" cap="flat" cmpd="sng" algn="ctr">
                      <a:solidFill>
                        <a:srgbClr val="2C3260"/>
                      </a:solidFill>
                      <a:prstDash val="solid"/>
                      <a:round/>
                      <a:headEnd type="none" w="med" len="med"/>
                      <a:tailEnd type="none" w="med" len="med"/>
                    </a:lnL>
                    <a:lnR w="9525" cap="flat" cmpd="sng" algn="ctr">
                      <a:solidFill>
                        <a:srgbClr val="2C3260"/>
                      </a:solidFill>
                      <a:prstDash val="solid"/>
                      <a:round/>
                      <a:headEnd type="none" w="med" len="med"/>
                      <a:tailEnd type="none" w="med" len="med"/>
                    </a:lnR>
                    <a:lnT w="9525" cap="flat" cmpd="sng" algn="ctr">
                      <a:solidFill>
                        <a:srgbClr val="2C3260"/>
                      </a:solidFill>
                      <a:prstDash val="solid"/>
                      <a:round/>
                      <a:headEnd type="none" w="med" len="med"/>
                      <a:tailEnd type="none" w="med" len="med"/>
                    </a:lnT>
                    <a:lnB w="9525" cap="flat" cmpd="sng" algn="ctr">
                      <a:solidFill>
                        <a:srgbClr val="2C3260"/>
                      </a:solidFill>
                      <a:prstDash val="solid"/>
                      <a:round/>
                      <a:headEnd type="none" w="med" len="med"/>
                      <a:tailEnd type="none" w="med" len="med"/>
                    </a:lnB>
                    <a:solidFill>
                      <a:schemeClr val="tx2"/>
                    </a:solidFill>
                  </a:tcPr>
                </a:tc>
              </a:tr>
              <a:tr h="420624">
                <a:tc>
                  <a:txBody>
                    <a:bodyPr/>
                    <a:lstStyle/>
                    <a:p>
                      <a:pPr indent="0" marL="0">
                        <a:buNone/>
                      </a:pPr>
                      <a:r>
                        <a:rPr lang="en-US" sz="1400" b="1" dirty="0">
                          <a:solidFill>
                            <a:schemeClr val="bg1"/>
                          </a:solidFill>
                        </a:rPr>
                        <a:t>M2 Testing</a:t>
                      </a:r>
                      <a:endParaRPr lang="en-US" sz="1400" dirty="0"/>
                    </a:p>
                  </a:txBody>
                  <a:tcPr marL="109728" marR="109728" marT="0" marB="0" anchor="ctr">
                    <a:lnL w="9525" cap="flat" cmpd="sng" algn="ctr">
                      <a:solidFill>
                        <a:srgbClr val="2C3260"/>
                      </a:solidFill>
                      <a:prstDash val="solid"/>
                      <a:round/>
                      <a:headEnd type="none" w="med" len="med"/>
                      <a:tailEnd type="none" w="med" len="med"/>
                    </a:lnL>
                    <a:lnR w="9525" cap="flat" cmpd="sng" algn="ctr">
                      <a:solidFill>
                        <a:srgbClr val="2C3260"/>
                      </a:solidFill>
                      <a:prstDash val="solid"/>
                      <a:round/>
                      <a:headEnd type="none" w="med" len="med"/>
                      <a:tailEnd type="none" w="med" len="med"/>
                    </a:lnR>
                    <a:lnT w="9525" cap="flat" cmpd="sng" algn="ctr">
                      <a:solidFill>
                        <a:srgbClr val="2C3260"/>
                      </a:solidFill>
                      <a:prstDash val="solid"/>
                      <a:round/>
                      <a:headEnd type="none" w="med" len="med"/>
                      <a:tailEnd type="none" w="med" len="med"/>
                    </a:lnT>
                    <a:lnB w="9525" cap="flat" cmpd="sng" algn="ctr">
                      <a:solidFill>
                        <a:srgbClr val="2C3260"/>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rPr>
                        <a:t>pytest -v: 22 passed, in-memory SQLite, conftest.py + pytest.ini</a:t>
                      </a:r>
                      <a:endParaRPr lang="en-US" sz="1400" dirty="0"/>
                    </a:p>
                  </a:txBody>
                  <a:tcPr marL="109728" marR="109728" marT="0" marB="0" anchor="ctr">
                    <a:lnL w="9525" cap="flat" cmpd="sng" algn="ctr">
                      <a:solidFill>
                        <a:srgbClr val="2C3260"/>
                      </a:solidFill>
                      <a:prstDash val="solid"/>
                      <a:round/>
                      <a:headEnd type="none" w="med" len="med"/>
                      <a:tailEnd type="none" w="med" len="med"/>
                    </a:lnL>
                    <a:lnR w="9525" cap="flat" cmpd="sng" algn="ctr">
                      <a:solidFill>
                        <a:srgbClr val="2C3260"/>
                      </a:solidFill>
                      <a:prstDash val="solid"/>
                      <a:round/>
                      <a:headEnd type="none" w="med" len="med"/>
                      <a:tailEnd type="none" w="med" len="med"/>
                    </a:lnR>
                    <a:lnT w="9525" cap="flat" cmpd="sng" algn="ctr">
                      <a:solidFill>
                        <a:srgbClr val="2C3260"/>
                      </a:solidFill>
                      <a:prstDash val="solid"/>
                      <a:round/>
                      <a:headEnd type="none" w="med" len="med"/>
                      <a:tailEnd type="none" w="med" len="med"/>
                    </a:lnT>
                    <a:lnB w="9525" cap="flat" cmpd="sng" algn="ctr">
                      <a:solidFill>
                        <a:srgbClr val="2C3260"/>
                      </a:solidFill>
                      <a:prstDash val="solid"/>
                      <a:round/>
                      <a:headEnd type="none" w="med" len="med"/>
                      <a:tailEnd type="none" w="med" len="med"/>
                    </a:lnB>
                    <a:solidFill>
                      <a:schemeClr val="tx2"/>
                    </a:solidFill>
                  </a:tcPr>
                </a:tc>
                <a:tc>
                  <a:txBody>
                    <a:bodyPr/>
                    <a:lstStyle/>
                    <a:p>
                      <a:pPr indent="0" marL="0">
                        <a:buNone/>
                      </a:pPr>
                      <a:r>
                        <a:rPr lang="en-US" sz="1400" b="1" dirty="0">
                          <a:solidFill>
                            <a:schemeClr val="accent2"/>
                          </a:solidFill>
                        </a:rPr>
                        <a:t>Shown</a:t>
                      </a:r>
                      <a:endParaRPr lang="en-US" sz="1400" dirty="0"/>
                    </a:p>
                  </a:txBody>
                  <a:tcPr marL="109728" marR="109728" marT="0" marB="0" anchor="ctr">
                    <a:lnL w="9525" cap="flat" cmpd="sng" algn="ctr">
                      <a:solidFill>
                        <a:srgbClr val="2C3260"/>
                      </a:solidFill>
                      <a:prstDash val="solid"/>
                      <a:round/>
                      <a:headEnd type="none" w="med" len="med"/>
                      <a:tailEnd type="none" w="med" len="med"/>
                    </a:lnL>
                    <a:lnR w="9525" cap="flat" cmpd="sng" algn="ctr">
                      <a:solidFill>
                        <a:srgbClr val="2C3260"/>
                      </a:solidFill>
                      <a:prstDash val="solid"/>
                      <a:round/>
                      <a:headEnd type="none" w="med" len="med"/>
                      <a:tailEnd type="none" w="med" len="med"/>
                    </a:lnR>
                    <a:lnT w="9525" cap="flat" cmpd="sng" algn="ctr">
                      <a:solidFill>
                        <a:srgbClr val="2C3260"/>
                      </a:solidFill>
                      <a:prstDash val="solid"/>
                      <a:round/>
                      <a:headEnd type="none" w="med" len="med"/>
                      <a:tailEnd type="none" w="med" len="med"/>
                    </a:lnT>
                    <a:lnB w="9525" cap="flat" cmpd="sng" algn="ctr">
                      <a:solidFill>
                        <a:srgbClr val="2C3260"/>
                      </a:solidFill>
                      <a:prstDash val="solid"/>
                      <a:round/>
                      <a:headEnd type="none" w="med" len="med"/>
                      <a:tailEnd type="none" w="med" len="med"/>
                    </a:lnB>
                    <a:solidFill>
                      <a:schemeClr val="tx2"/>
                    </a:solidFill>
                  </a:tcPr>
                </a:tc>
              </a:tr>
              <a:tr h="420624">
                <a:tc>
                  <a:txBody>
                    <a:bodyPr/>
                    <a:lstStyle/>
                    <a:p>
                      <a:pPr indent="0" marL="0">
                        <a:buNone/>
                      </a:pPr>
                      <a:r>
                        <a:rPr lang="en-US" sz="1400" b="1" dirty="0">
                          <a:solidFill>
                            <a:schemeClr val="bg1"/>
                          </a:solidFill>
                        </a:rPr>
                        <a:t>M3 Git &amp; GitHub</a:t>
                      </a:r>
                      <a:endParaRPr lang="en-US" sz="1400" dirty="0"/>
                    </a:p>
                  </a:txBody>
                  <a:tcPr marL="109728" marR="109728" marT="0" marB="0" anchor="ctr">
                    <a:lnL w="9525" cap="flat" cmpd="sng" algn="ctr">
                      <a:solidFill>
                        <a:srgbClr val="2C3260"/>
                      </a:solidFill>
                      <a:prstDash val="solid"/>
                      <a:round/>
                      <a:headEnd type="none" w="med" len="med"/>
                      <a:tailEnd type="none" w="med" len="med"/>
                    </a:lnL>
                    <a:lnR w="9525" cap="flat" cmpd="sng" algn="ctr">
                      <a:solidFill>
                        <a:srgbClr val="2C3260"/>
                      </a:solidFill>
                      <a:prstDash val="solid"/>
                      <a:round/>
                      <a:headEnd type="none" w="med" len="med"/>
                      <a:tailEnd type="none" w="med" len="med"/>
                    </a:lnR>
                    <a:lnT w="9525" cap="flat" cmpd="sng" algn="ctr">
                      <a:solidFill>
                        <a:srgbClr val="2C3260"/>
                      </a:solidFill>
                      <a:prstDash val="solid"/>
                      <a:round/>
                      <a:headEnd type="none" w="med" len="med"/>
                      <a:tailEnd type="none" w="med" len="med"/>
                    </a:lnT>
                    <a:lnB w="9525" cap="flat" cmpd="sng" algn="ctr">
                      <a:solidFill>
                        <a:srgbClr val="2C3260"/>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rPr>
                        <a:t>Public repo, 11 descriptive commits, .gitignore</a:t>
                      </a:r>
                      <a:endParaRPr lang="en-US" sz="1400" dirty="0"/>
                    </a:p>
                  </a:txBody>
                  <a:tcPr marL="109728" marR="109728" marT="0" marB="0" anchor="ctr">
                    <a:lnL w="9525" cap="flat" cmpd="sng" algn="ctr">
                      <a:solidFill>
                        <a:srgbClr val="2C3260"/>
                      </a:solidFill>
                      <a:prstDash val="solid"/>
                      <a:round/>
                      <a:headEnd type="none" w="med" len="med"/>
                      <a:tailEnd type="none" w="med" len="med"/>
                    </a:lnL>
                    <a:lnR w="9525" cap="flat" cmpd="sng" algn="ctr">
                      <a:solidFill>
                        <a:srgbClr val="2C3260"/>
                      </a:solidFill>
                      <a:prstDash val="solid"/>
                      <a:round/>
                      <a:headEnd type="none" w="med" len="med"/>
                      <a:tailEnd type="none" w="med" len="med"/>
                    </a:lnR>
                    <a:lnT w="9525" cap="flat" cmpd="sng" algn="ctr">
                      <a:solidFill>
                        <a:srgbClr val="2C3260"/>
                      </a:solidFill>
                      <a:prstDash val="solid"/>
                      <a:round/>
                      <a:headEnd type="none" w="med" len="med"/>
                      <a:tailEnd type="none" w="med" len="med"/>
                    </a:lnT>
                    <a:lnB w="9525" cap="flat" cmpd="sng" algn="ctr">
                      <a:solidFill>
                        <a:srgbClr val="2C3260"/>
                      </a:solidFill>
                      <a:prstDash val="solid"/>
                      <a:round/>
                      <a:headEnd type="none" w="med" len="med"/>
                      <a:tailEnd type="none" w="med" len="med"/>
                    </a:lnB>
                    <a:solidFill>
                      <a:schemeClr val="tx2"/>
                    </a:solidFill>
                  </a:tcPr>
                </a:tc>
                <a:tc>
                  <a:txBody>
                    <a:bodyPr/>
                    <a:lstStyle/>
                    <a:p>
                      <a:pPr indent="0" marL="0">
                        <a:buNone/>
                      </a:pPr>
                      <a:r>
                        <a:rPr lang="en-US" sz="1400" b="1" dirty="0">
                          <a:solidFill>
                            <a:schemeClr val="accent2"/>
                          </a:solidFill>
                        </a:rPr>
                        <a:t>Shown</a:t>
                      </a:r>
                      <a:endParaRPr lang="en-US" sz="1400" dirty="0"/>
                    </a:p>
                  </a:txBody>
                  <a:tcPr marL="109728" marR="109728" marT="0" marB="0" anchor="ctr">
                    <a:lnL w="9525" cap="flat" cmpd="sng" algn="ctr">
                      <a:solidFill>
                        <a:srgbClr val="2C3260"/>
                      </a:solidFill>
                      <a:prstDash val="solid"/>
                      <a:round/>
                      <a:headEnd type="none" w="med" len="med"/>
                      <a:tailEnd type="none" w="med" len="med"/>
                    </a:lnL>
                    <a:lnR w="9525" cap="flat" cmpd="sng" algn="ctr">
                      <a:solidFill>
                        <a:srgbClr val="2C3260"/>
                      </a:solidFill>
                      <a:prstDash val="solid"/>
                      <a:round/>
                      <a:headEnd type="none" w="med" len="med"/>
                      <a:tailEnd type="none" w="med" len="med"/>
                    </a:lnR>
                    <a:lnT w="9525" cap="flat" cmpd="sng" algn="ctr">
                      <a:solidFill>
                        <a:srgbClr val="2C3260"/>
                      </a:solidFill>
                      <a:prstDash val="solid"/>
                      <a:round/>
                      <a:headEnd type="none" w="med" len="med"/>
                      <a:tailEnd type="none" w="med" len="med"/>
                    </a:lnT>
                    <a:lnB w="9525" cap="flat" cmpd="sng" algn="ctr">
                      <a:solidFill>
                        <a:srgbClr val="2C3260"/>
                      </a:solidFill>
                      <a:prstDash val="solid"/>
                      <a:round/>
                      <a:headEnd type="none" w="med" len="med"/>
                      <a:tailEnd type="none" w="med" len="med"/>
                    </a:lnB>
                    <a:solidFill>
                      <a:schemeClr val="tx2"/>
                    </a:solidFill>
                  </a:tcPr>
                </a:tc>
              </a:tr>
              <a:tr h="420624">
                <a:tc>
                  <a:txBody>
                    <a:bodyPr/>
                    <a:lstStyle/>
                    <a:p>
                      <a:pPr indent="0" marL="0">
                        <a:buNone/>
                      </a:pPr>
                      <a:r>
                        <a:rPr lang="en-US" sz="1400" b="1" dirty="0">
                          <a:solidFill>
                            <a:schemeClr val="bg1"/>
                          </a:solidFill>
                        </a:rPr>
                        <a:t>M4 Docker</a:t>
                      </a:r>
                      <a:endParaRPr lang="en-US" sz="1400" dirty="0"/>
                    </a:p>
                  </a:txBody>
                  <a:tcPr marL="109728" marR="109728" marT="0" marB="0" anchor="ctr">
                    <a:lnL w="9525" cap="flat" cmpd="sng" algn="ctr">
                      <a:solidFill>
                        <a:srgbClr val="2C3260"/>
                      </a:solidFill>
                      <a:prstDash val="solid"/>
                      <a:round/>
                      <a:headEnd type="none" w="med" len="med"/>
                      <a:tailEnd type="none" w="med" len="med"/>
                    </a:lnL>
                    <a:lnR w="9525" cap="flat" cmpd="sng" algn="ctr">
                      <a:solidFill>
                        <a:srgbClr val="2C3260"/>
                      </a:solidFill>
                      <a:prstDash val="solid"/>
                      <a:round/>
                      <a:headEnd type="none" w="med" len="med"/>
                      <a:tailEnd type="none" w="med" len="med"/>
                    </a:lnR>
                    <a:lnT w="9525" cap="flat" cmpd="sng" algn="ctr">
                      <a:solidFill>
                        <a:srgbClr val="2C3260"/>
                      </a:solidFill>
                      <a:prstDash val="solid"/>
                      <a:round/>
                      <a:headEnd type="none" w="med" len="med"/>
                      <a:tailEnd type="none" w="med" len="med"/>
                    </a:lnT>
                    <a:lnB w="9525" cap="flat" cmpd="sng" algn="ctr">
                      <a:solidFill>
                        <a:srgbClr val="2C3260"/>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rPr>
                        <a:t>Non-root images, multi-stage frontend, compose up --build healthy</a:t>
                      </a:r>
                      <a:endParaRPr lang="en-US" sz="1400" dirty="0"/>
                    </a:p>
                  </a:txBody>
                  <a:tcPr marL="109728" marR="109728" marT="0" marB="0" anchor="ctr">
                    <a:lnL w="9525" cap="flat" cmpd="sng" algn="ctr">
                      <a:solidFill>
                        <a:srgbClr val="2C3260"/>
                      </a:solidFill>
                      <a:prstDash val="solid"/>
                      <a:round/>
                      <a:headEnd type="none" w="med" len="med"/>
                      <a:tailEnd type="none" w="med" len="med"/>
                    </a:lnL>
                    <a:lnR w="9525" cap="flat" cmpd="sng" algn="ctr">
                      <a:solidFill>
                        <a:srgbClr val="2C3260"/>
                      </a:solidFill>
                      <a:prstDash val="solid"/>
                      <a:round/>
                      <a:headEnd type="none" w="med" len="med"/>
                      <a:tailEnd type="none" w="med" len="med"/>
                    </a:lnR>
                    <a:lnT w="9525" cap="flat" cmpd="sng" algn="ctr">
                      <a:solidFill>
                        <a:srgbClr val="2C3260"/>
                      </a:solidFill>
                      <a:prstDash val="solid"/>
                      <a:round/>
                      <a:headEnd type="none" w="med" len="med"/>
                      <a:tailEnd type="none" w="med" len="med"/>
                    </a:lnT>
                    <a:lnB w="9525" cap="flat" cmpd="sng" algn="ctr">
                      <a:solidFill>
                        <a:srgbClr val="2C3260"/>
                      </a:solidFill>
                      <a:prstDash val="solid"/>
                      <a:round/>
                      <a:headEnd type="none" w="med" len="med"/>
                      <a:tailEnd type="none" w="med" len="med"/>
                    </a:lnB>
                    <a:solidFill>
                      <a:schemeClr val="tx2"/>
                    </a:solidFill>
                  </a:tcPr>
                </a:tc>
                <a:tc>
                  <a:txBody>
                    <a:bodyPr/>
                    <a:lstStyle/>
                    <a:p>
                      <a:pPr indent="0" marL="0">
                        <a:buNone/>
                      </a:pPr>
                      <a:r>
                        <a:rPr lang="en-US" sz="1400" b="1" dirty="0">
                          <a:solidFill>
                            <a:schemeClr val="accent2"/>
                          </a:solidFill>
                        </a:rPr>
                        <a:t>Shown</a:t>
                      </a:r>
                      <a:endParaRPr lang="en-US" sz="1400" dirty="0"/>
                    </a:p>
                  </a:txBody>
                  <a:tcPr marL="109728" marR="109728" marT="0" marB="0" anchor="ctr">
                    <a:lnL w="9525" cap="flat" cmpd="sng" algn="ctr">
                      <a:solidFill>
                        <a:srgbClr val="2C3260"/>
                      </a:solidFill>
                      <a:prstDash val="solid"/>
                      <a:round/>
                      <a:headEnd type="none" w="med" len="med"/>
                      <a:tailEnd type="none" w="med" len="med"/>
                    </a:lnL>
                    <a:lnR w="9525" cap="flat" cmpd="sng" algn="ctr">
                      <a:solidFill>
                        <a:srgbClr val="2C3260"/>
                      </a:solidFill>
                      <a:prstDash val="solid"/>
                      <a:round/>
                      <a:headEnd type="none" w="med" len="med"/>
                      <a:tailEnd type="none" w="med" len="med"/>
                    </a:lnR>
                    <a:lnT w="9525" cap="flat" cmpd="sng" algn="ctr">
                      <a:solidFill>
                        <a:srgbClr val="2C3260"/>
                      </a:solidFill>
                      <a:prstDash val="solid"/>
                      <a:round/>
                      <a:headEnd type="none" w="med" len="med"/>
                      <a:tailEnd type="none" w="med" len="med"/>
                    </a:lnT>
                    <a:lnB w="9525" cap="flat" cmpd="sng" algn="ctr">
                      <a:solidFill>
                        <a:srgbClr val="2C3260"/>
                      </a:solidFill>
                      <a:prstDash val="solid"/>
                      <a:round/>
                      <a:headEnd type="none" w="med" len="med"/>
                      <a:tailEnd type="none" w="med" len="med"/>
                    </a:lnB>
                    <a:solidFill>
                      <a:schemeClr val="tx2"/>
                    </a:solidFill>
                  </a:tcPr>
                </a:tc>
              </a:tr>
              <a:tr h="420624">
                <a:tc>
                  <a:txBody>
                    <a:bodyPr/>
                    <a:lstStyle/>
                    <a:p>
                      <a:pPr indent="0" marL="0">
                        <a:buNone/>
                      </a:pPr>
                      <a:r>
                        <a:rPr lang="en-US" sz="1400" b="1" dirty="0">
                          <a:solidFill>
                            <a:schemeClr val="bg1"/>
                          </a:solidFill>
                        </a:rPr>
                        <a:t>M5 CI/CD</a:t>
                      </a:r>
                      <a:endParaRPr lang="en-US" sz="1400" dirty="0"/>
                    </a:p>
                  </a:txBody>
                  <a:tcPr marL="109728" marR="109728" marT="0" marB="0" anchor="ctr">
                    <a:lnL w="9525" cap="flat" cmpd="sng" algn="ctr">
                      <a:solidFill>
                        <a:srgbClr val="2C3260"/>
                      </a:solidFill>
                      <a:prstDash val="solid"/>
                      <a:round/>
                      <a:headEnd type="none" w="med" len="med"/>
                      <a:tailEnd type="none" w="med" len="med"/>
                    </a:lnL>
                    <a:lnR w="9525" cap="flat" cmpd="sng" algn="ctr">
                      <a:solidFill>
                        <a:srgbClr val="2C3260"/>
                      </a:solidFill>
                      <a:prstDash val="solid"/>
                      <a:round/>
                      <a:headEnd type="none" w="med" len="med"/>
                      <a:tailEnd type="none" w="med" len="med"/>
                    </a:lnR>
                    <a:lnT w="9525" cap="flat" cmpd="sng" algn="ctr">
                      <a:solidFill>
                        <a:srgbClr val="2C3260"/>
                      </a:solidFill>
                      <a:prstDash val="solid"/>
                      <a:round/>
                      <a:headEnd type="none" w="med" len="med"/>
                      <a:tailEnd type="none" w="med" len="med"/>
                    </a:lnT>
                    <a:lnB w="9525" cap="flat" cmpd="sng" algn="ctr">
                      <a:solidFill>
                        <a:srgbClr val="2C3260"/>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rPr>
                        <a:t>Green run on main, pytest + build, GHCR push tagged by SHA</a:t>
                      </a:r>
                      <a:endParaRPr lang="en-US" sz="1400" dirty="0"/>
                    </a:p>
                  </a:txBody>
                  <a:tcPr marL="109728" marR="109728" marT="0" marB="0" anchor="ctr">
                    <a:lnL w="9525" cap="flat" cmpd="sng" algn="ctr">
                      <a:solidFill>
                        <a:srgbClr val="2C3260"/>
                      </a:solidFill>
                      <a:prstDash val="solid"/>
                      <a:round/>
                      <a:headEnd type="none" w="med" len="med"/>
                      <a:tailEnd type="none" w="med" len="med"/>
                    </a:lnL>
                    <a:lnR w="9525" cap="flat" cmpd="sng" algn="ctr">
                      <a:solidFill>
                        <a:srgbClr val="2C3260"/>
                      </a:solidFill>
                      <a:prstDash val="solid"/>
                      <a:round/>
                      <a:headEnd type="none" w="med" len="med"/>
                      <a:tailEnd type="none" w="med" len="med"/>
                    </a:lnR>
                    <a:lnT w="9525" cap="flat" cmpd="sng" algn="ctr">
                      <a:solidFill>
                        <a:srgbClr val="2C3260"/>
                      </a:solidFill>
                      <a:prstDash val="solid"/>
                      <a:round/>
                      <a:headEnd type="none" w="med" len="med"/>
                      <a:tailEnd type="none" w="med" len="med"/>
                    </a:lnT>
                    <a:lnB w="9525" cap="flat" cmpd="sng" algn="ctr">
                      <a:solidFill>
                        <a:srgbClr val="2C3260"/>
                      </a:solidFill>
                      <a:prstDash val="solid"/>
                      <a:round/>
                      <a:headEnd type="none" w="med" len="med"/>
                      <a:tailEnd type="none" w="med" len="med"/>
                    </a:lnB>
                    <a:solidFill>
                      <a:schemeClr val="tx2"/>
                    </a:solidFill>
                  </a:tcPr>
                </a:tc>
                <a:tc>
                  <a:txBody>
                    <a:bodyPr/>
                    <a:lstStyle/>
                    <a:p>
                      <a:pPr indent="0" marL="0">
                        <a:buNone/>
                      </a:pPr>
                      <a:r>
                        <a:rPr lang="en-US" sz="1400" b="1" dirty="0">
                          <a:solidFill>
                            <a:schemeClr val="accent2"/>
                          </a:solidFill>
                        </a:rPr>
                        <a:t>Shown</a:t>
                      </a:r>
                      <a:endParaRPr lang="en-US" sz="1400" dirty="0"/>
                    </a:p>
                  </a:txBody>
                  <a:tcPr marL="109728" marR="109728" marT="0" marB="0" anchor="ctr">
                    <a:lnL w="9525" cap="flat" cmpd="sng" algn="ctr">
                      <a:solidFill>
                        <a:srgbClr val="2C3260"/>
                      </a:solidFill>
                      <a:prstDash val="solid"/>
                      <a:round/>
                      <a:headEnd type="none" w="med" len="med"/>
                      <a:tailEnd type="none" w="med" len="med"/>
                    </a:lnL>
                    <a:lnR w="9525" cap="flat" cmpd="sng" algn="ctr">
                      <a:solidFill>
                        <a:srgbClr val="2C3260"/>
                      </a:solidFill>
                      <a:prstDash val="solid"/>
                      <a:round/>
                      <a:headEnd type="none" w="med" len="med"/>
                      <a:tailEnd type="none" w="med" len="med"/>
                    </a:lnR>
                    <a:lnT w="9525" cap="flat" cmpd="sng" algn="ctr">
                      <a:solidFill>
                        <a:srgbClr val="2C3260"/>
                      </a:solidFill>
                      <a:prstDash val="solid"/>
                      <a:round/>
                      <a:headEnd type="none" w="med" len="med"/>
                      <a:tailEnd type="none" w="med" len="med"/>
                    </a:lnT>
                    <a:lnB w="9525" cap="flat" cmpd="sng" algn="ctr">
                      <a:solidFill>
                        <a:srgbClr val="2C3260"/>
                      </a:solidFill>
                      <a:prstDash val="solid"/>
                      <a:round/>
                      <a:headEnd type="none" w="med" len="med"/>
                      <a:tailEnd type="none" w="med" len="med"/>
                    </a:lnB>
                    <a:solidFill>
                      <a:schemeClr val="tx2"/>
                    </a:solidFill>
                  </a:tcPr>
                </a:tc>
              </a:tr>
              <a:tr h="420624">
                <a:tc>
                  <a:txBody>
                    <a:bodyPr/>
                    <a:lstStyle/>
                    <a:p>
                      <a:pPr indent="0" marL="0">
                        <a:buNone/>
                      </a:pPr>
                      <a:r>
                        <a:rPr lang="en-US" sz="1400" b="1" dirty="0">
                          <a:solidFill>
                            <a:schemeClr val="bg1"/>
                          </a:solidFill>
                        </a:rPr>
                        <a:t>M6 DevSecOps</a:t>
                      </a:r>
                      <a:endParaRPr lang="en-US" sz="1400" dirty="0"/>
                    </a:p>
                  </a:txBody>
                  <a:tcPr marL="109728" marR="109728" marT="0" marB="0" anchor="ctr">
                    <a:lnL w="9525" cap="flat" cmpd="sng" algn="ctr">
                      <a:solidFill>
                        <a:srgbClr val="2C3260"/>
                      </a:solidFill>
                      <a:prstDash val="solid"/>
                      <a:round/>
                      <a:headEnd type="none" w="med" len="med"/>
                      <a:tailEnd type="none" w="med" len="med"/>
                    </a:lnL>
                    <a:lnR w="9525" cap="flat" cmpd="sng" algn="ctr">
                      <a:solidFill>
                        <a:srgbClr val="2C3260"/>
                      </a:solidFill>
                      <a:prstDash val="solid"/>
                      <a:round/>
                      <a:headEnd type="none" w="med" len="med"/>
                      <a:tailEnd type="none" w="med" len="med"/>
                    </a:lnR>
                    <a:lnT w="9525" cap="flat" cmpd="sng" algn="ctr">
                      <a:solidFill>
                        <a:srgbClr val="2C3260"/>
                      </a:solidFill>
                      <a:prstDash val="solid"/>
                      <a:round/>
                      <a:headEnd type="none" w="med" len="med"/>
                      <a:tailEnd type="none" w="med" len="med"/>
                    </a:lnT>
                    <a:lnB w="9525" cap="flat" cmpd="sng" algn="ctr">
                      <a:solidFill>
                        <a:srgbClr val="2C3260"/>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rPr>
                        <a:t>Trivy HIGH/CRITICAL gate on both images, clean result explained</a:t>
                      </a:r>
                      <a:endParaRPr lang="en-US" sz="1400" dirty="0"/>
                    </a:p>
                  </a:txBody>
                  <a:tcPr marL="109728" marR="109728" marT="0" marB="0" anchor="ctr">
                    <a:lnL w="9525" cap="flat" cmpd="sng" algn="ctr">
                      <a:solidFill>
                        <a:srgbClr val="2C3260"/>
                      </a:solidFill>
                      <a:prstDash val="solid"/>
                      <a:round/>
                      <a:headEnd type="none" w="med" len="med"/>
                      <a:tailEnd type="none" w="med" len="med"/>
                    </a:lnL>
                    <a:lnR w="9525" cap="flat" cmpd="sng" algn="ctr">
                      <a:solidFill>
                        <a:srgbClr val="2C3260"/>
                      </a:solidFill>
                      <a:prstDash val="solid"/>
                      <a:round/>
                      <a:headEnd type="none" w="med" len="med"/>
                      <a:tailEnd type="none" w="med" len="med"/>
                    </a:lnR>
                    <a:lnT w="9525" cap="flat" cmpd="sng" algn="ctr">
                      <a:solidFill>
                        <a:srgbClr val="2C3260"/>
                      </a:solidFill>
                      <a:prstDash val="solid"/>
                      <a:round/>
                      <a:headEnd type="none" w="med" len="med"/>
                      <a:tailEnd type="none" w="med" len="med"/>
                    </a:lnT>
                    <a:lnB w="9525" cap="flat" cmpd="sng" algn="ctr">
                      <a:solidFill>
                        <a:srgbClr val="2C3260"/>
                      </a:solidFill>
                      <a:prstDash val="solid"/>
                      <a:round/>
                      <a:headEnd type="none" w="med" len="med"/>
                      <a:tailEnd type="none" w="med" len="med"/>
                    </a:lnB>
                    <a:solidFill>
                      <a:schemeClr val="tx2"/>
                    </a:solidFill>
                  </a:tcPr>
                </a:tc>
                <a:tc>
                  <a:txBody>
                    <a:bodyPr/>
                    <a:lstStyle/>
                    <a:p>
                      <a:pPr indent="0" marL="0">
                        <a:buNone/>
                      </a:pPr>
                      <a:r>
                        <a:rPr lang="en-US" sz="1400" b="1" dirty="0">
                          <a:solidFill>
                            <a:schemeClr val="accent2"/>
                          </a:solidFill>
                        </a:rPr>
                        <a:t>Shown</a:t>
                      </a:r>
                      <a:endParaRPr lang="en-US" sz="1400" dirty="0"/>
                    </a:p>
                  </a:txBody>
                  <a:tcPr marL="109728" marR="109728" marT="0" marB="0" anchor="ctr">
                    <a:lnL w="9525" cap="flat" cmpd="sng" algn="ctr">
                      <a:solidFill>
                        <a:srgbClr val="2C3260"/>
                      </a:solidFill>
                      <a:prstDash val="solid"/>
                      <a:round/>
                      <a:headEnd type="none" w="med" len="med"/>
                      <a:tailEnd type="none" w="med" len="med"/>
                    </a:lnL>
                    <a:lnR w="9525" cap="flat" cmpd="sng" algn="ctr">
                      <a:solidFill>
                        <a:srgbClr val="2C3260"/>
                      </a:solidFill>
                      <a:prstDash val="solid"/>
                      <a:round/>
                      <a:headEnd type="none" w="med" len="med"/>
                      <a:tailEnd type="none" w="med" len="med"/>
                    </a:lnR>
                    <a:lnT w="9525" cap="flat" cmpd="sng" algn="ctr">
                      <a:solidFill>
                        <a:srgbClr val="2C3260"/>
                      </a:solidFill>
                      <a:prstDash val="solid"/>
                      <a:round/>
                      <a:headEnd type="none" w="med" len="med"/>
                      <a:tailEnd type="none" w="med" len="med"/>
                    </a:lnT>
                    <a:lnB w="9525" cap="flat" cmpd="sng" algn="ctr">
                      <a:solidFill>
                        <a:srgbClr val="2C3260"/>
                      </a:solidFill>
                      <a:prstDash val="solid"/>
                      <a:round/>
                      <a:headEnd type="none" w="med" len="med"/>
                      <a:tailEnd type="none" w="med" len="med"/>
                    </a:lnB>
                    <a:solidFill>
                      <a:schemeClr val="tx2"/>
                    </a:solidFill>
                  </a:tcPr>
                </a:tc>
              </a:tr>
              <a:tr h="420624">
                <a:tc>
                  <a:txBody>
                    <a:bodyPr/>
                    <a:lstStyle/>
                    <a:p>
                      <a:pPr indent="0" marL="0">
                        <a:buNone/>
                      </a:pPr>
                      <a:r>
                        <a:rPr lang="en-US" sz="1400" b="1" dirty="0">
                          <a:solidFill>
                            <a:schemeClr val="bg1"/>
                          </a:solidFill>
                        </a:rPr>
                        <a:t>M7 Terraform</a:t>
                      </a:r>
                      <a:endParaRPr lang="en-US" sz="1400" dirty="0"/>
                    </a:p>
                  </a:txBody>
                  <a:tcPr marL="109728" marR="109728" marT="0" marB="0" anchor="ctr">
                    <a:lnL w="9525" cap="flat" cmpd="sng" algn="ctr">
                      <a:solidFill>
                        <a:srgbClr val="2C3260"/>
                      </a:solidFill>
                      <a:prstDash val="solid"/>
                      <a:round/>
                      <a:headEnd type="none" w="med" len="med"/>
                      <a:tailEnd type="none" w="med" len="med"/>
                    </a:lnL>
                    <a:lnR w="9525" cap="flat" cmpd="sng" algn="ctr">
                      <a:solidFill>
                        <a:srgbClr val="2C3260"/>
                      </a:solidFill>
                      <a:prstDash val="solid"/>
                      <a:round/>
                      <a:headEnd type="none" w="med" len="med"/>
                      <a:tailEnd type="none" w="med" len="med"/>
                    </a:lnR>
                    <a:lnT w="9525" cap="flat" cmpd="sng" algn="ctr">
                      <a:solidFill>
                        <a:srgbClr val="2C3260"/>
                      </a:solidFill>
                      <a:prstDash val="solid"/>
                      <a:round/>
                      <a:headEnd type="none" w="med" len="med"/>
                      <a:tailEnd type="none" w="med" len="med"/>
                    </a:lnT>
                    <a:lnB w="9525" cap="flat" cmpd="sng" algn="ctr">
                      <a:solidFill>
                        <a:srgbClr val="2C3260"/>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rPr>
                        <a:t>Code, init/fmt/validate; plan, console and destroy need AWS</a:t>
                      </a:r>
                      <a:endParaRPr lang="en-US" sz="1400" dirty="0"/>
                    </a:p>
                  </a:txBody>
                  <a:tcPr marL="109728" marR="109728" marT="0" marB="0" anchor="ctr">
                    <a:lnL w="9525" cap="flat" cmpd="sng" algn="ctr">
                      <a:solidFill>
                        <a:srgbClr val="2C3260"/>
                      </a:solidFill>
                      <a:prstDash val="solid"/>
                      <a:round/>
                      <a:headEnd type="none" w="med" len="med"/>
                      <a:tailEnd type="none" w="med" len="med"/>
                    </a:lnL>
                    <a:lnR w="9525" cap="flat" cmpd="sng" algn="ctr">
                      <a:solidFill>
                        <a:srgbClr val="2C3260"/>
                      </a:solidFill>
                      <a:prstDash val="solid"/>
                      <a:round/>
                      <a:headEnd type="none" w="med" len="med"/>
                      <a:tailEnd type="none" w="med" len="med"/>
                    </a:lnR>
                    <a:lnT w="9525" cap="flat" cmpd="sng" algn="ctr">
                      <a:solidFill>
                        <a:srgbClr val="2C3260"/>
                      </a:solidFill>
                      <a:prstDash val="solid"/>
                      <a:round/>
                      <a:headEnd type="none" w="med" len="med"/>
                      <a:tailEnd type="none" w="med" len="med"/>
                    </a:lnT>
                    <a:lnB w="9525" cap="flat" cmpd="sng" algn="ctr">
                      <a:solidFill>
                        <a:srgbClr val="2C3260"/>
                      </a:solidFill>
                      <a:prstDash val="solid"/>
                      <a:round/>
                      <a:headEnd type="none" w="med" len="med"/>
                      <a:tailEnd type="none" w="med" len="med"/>
                    </a:lnB>
                    <a:solidFill>
                      <a:schemeClr val="tx2"/>
                    </a:solidFill>
                  </a:tcPr>
                </a:tc>
                <a:tc>
                  <a:txBody>
                    <a:bodyPr/>
                    <a:lstStyle/>
                    <a:p>
                      <a:pPr indent="0" marL="0">
                        <a:buNone/>
                      </a:pPr>
                      <a:r>
                        <a:rPr lang="en-US" sz="1400" b="1" dirty="0">
                          <a:solidFill>
                            <a:schemeClr val="accent3"/>
                          </a:solidFill>
                        </a:rPr>
                        <a:t>Add AWS run</a:t>
                      </a:r>
                      <a:endParaRPr lang="en-US" sz="1400" dirty="0"/>
                    </a:p>
                  </a:txBody>
                  <a:tcPr marL="109728" marR="109728" marT="0" marB="0" anchor="ctr">
                    <a:lnL w="9525" cap="flat" cmpd="sng" algn="ctr">
                      <a:solidFill>
                        <a:srgbClr val="2C3260"/>
                      </a:solidFill>
                      <a:prstDash val="solid"/>
                      <a:round/>
                      <a:headEnd type="none" w="med" len="med"/>
                      <a:tailEnd type="none" w="med" len="med"/>
                    </a:lnL>
                    <a:lnR w="9525" cap="flat" cmpd="sng" algn="ctr">
                      <a:solidFill>
                        <a:srgbClr val="2C3260"/>
                      </a:solidFill>
                      <a:prstDash val="solid"/>
                      <a:round/>
                      <a:headEnd type="none" w="med" len="med"/>
                      <a:tailEnd type="none" w="med" len="med"/>
                    </a:lnR>
                    <a:lnT w="9525" cap="flat" cmpd="sng" algn="ctr">
                      <a:solidFill>
                        <a:srgbClr val="2C3260"/>
                      </a:solidFill>
                      <a:prstDash val="solid"/>
                      <a:round/>
                      <a:headEnd type="none" w="med" len="med"/>
                      <a:tailEnd type="none" w="med" len="med"/>
                    </a:lnT>
                    <a:lnB w="9525" cap="flat" cmpd="sng" algn="ctr">
                      <a:solidFill>
                        <a:srgbClr val="2C3260"/>
                      </a:solidFill>
                      <a:prstDash val="solid"/>
                      <a:round/>
                      <a:headEnd type="none" w="med" len="med"/>
                      <a:tailEnd type="none" w="med" len="med"/>
                    </a:lnB>
                    <a:solidFill>
                      <a:schemeClr val="tx2"/>
                    </a:solidFill>
                  </a:tcPr>
                </a:tc>
              </a:tr>
              <a:tr h="420624">
                <a:tc>
                  <a:txBody>
                    <a:bodyPr/>
                    <a:lstStyle/>
                    <a:p>
                      <a:pPr indent="0" marL="0">
                        <a:buNone/>
                      </a:pPr>
                      <a:r>
                        <a:rPr lang="en-US" sz="1400" b="1" dirty="0">
                          <a:solidFill>
                            <a:schemeClr val="bg1"/>
                          </a:solidFill>
                        </a:rPr>
                        <a:t>M8 Kubernetes + Helm</a:t>
                      </a:r>
                      <a:endParaRPr lang="en-US" sz="1400" dirty="0"/>
                    </a:p>
                  </a:txBody>
                  <a:tcPr marL="109728" marR="109728" marT="0" marB="0" anchor="ctr">
                    <a:lnL w="9525" cap="flat" cmpd="sng" algn="ctr">
                      <a:solidFill>
                        <a:srgbClr val="2C3260"/>
                      </a:solidFill>
                      <a:prstDash val="solid"/>
                      <a:round/>
                      <a:headEnd type="none" w="med" len="med"/>
                      <a:tailEnd type="none" w="med" len="med"/>
                    </a:lnL>
                    <a:lnR w="9525" cap="flat" cmpd="sng" algn="ctr">
                      <a:solidFill>
                        <a:srgbClr val="2C3260"/>
                      </a:solidFill>
                      <a:prstDash val="solid"/>
                      <a:round/>
                      <a:headEnd type="none" w="med" len="med"/>
                      <a:tailEnd type="none" w="med" len="med"/>
                    </a:lnR>
                    <a:lnT w="9525" cap="flat" cmpd="sng" algn="ctr">
                      <a:solidFill>
                        <a:srgbClr val="2C3260"/>
                      </a:solidFill>
                      <a:prstDash val="solid"/>
                      <a:round/>
                      <a:headEnd type="none" w="med" len="med"/>
                      <a:tailEnd type="none" w="med" len="med"/>
                    </a:lnT>
                    <a:lnB w="9525" cap="flat" cmpd="sng" algn="ctr">
                      <a:solidFill>
                        <a:srgbClr val="2C3260"/>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rPr>
                        <a:t>helm install, 2+2 replicas, ClusterIP, Ingress, HPA 2 → 5</a:t>
                      </a:r>
                      <a:endParaRPr lang="en-US" sz="1400" dirty="0"/>
                    </a:p>
                  </a:txBody>
                  <a:tcPr marL="109728" marR="109728" marT="0" marB="0" anchor="ctr">
                    <a:lnL w="9525" cap="flat" cmpd="sng" algn="ctr">
                      <a:solidFill>
                        <a:srgbClr val="2C3260"/>
                      </a:solidFill>
                      <a:prstDash val="solid"/>
                      <a:round/>
                      <a:headEnd type="none" w="med" len="med"/>
                      <a:tailEnd type="none" w="med" len="med"/>
                    </a:lnL>
                    <a:lnR w="9525" cap="flat" cmpd="sng" algn="ctr">
                      <a:solidFill>
                        <a:srgbClr val="2C3260"/>
                      </a:solidFill>
                      <a:prstDash val="solid"/>
                      <a:round/>
                      <a:headEnd type="none" w="med" len="med"/>
                      <a:tailEnd type="none" w="med" len="med"/>
                    </a:lnR>
                    <a:lnT w="9525" cap="flat" cmpd="sng" algn="ctr">
                      <a:solidFill>
                        <a:srgbClr val="2C3260"/>
                      </a:solidFill>
                      <a:prstDash val="solid"/>
                      <a:round/>
                      <a:headEnd type="none" w="med" len="med"/>
                      <a:tailEnd type="none" w="med" len="med"/>
                    </a:lnT>
                    <a:lnB w="9525" cap="flat" cmpd="sng" algn="ctr">
                      <a:solidFill>
                        <a:srgbClr val="2C3260"/>
                      </a:solidFill>
                      <a:prstDash val="solid"/>
                      <a:round/>
                      <a:headEnd type="none" w="med" len="med"/>
                      <a:tailEnd type="none" w="med" len="med"/>
                    </a:lnB>
                    <a:solidFill>
                      <a:schemeClr val="tx2"/>
                    </a:solidFill>
                  </a:tcPr>
                </a:tc>
                <a:tc>
                  <a:txBody>
                    <a:bodyPr/>
                    <a:lstStyle/>
                    <a:p>
                      <a:pPr indent="0" marL="0">
                        <a:buNone/>
                      </a:pPr>
                      <a:r>
                        <a:rPr lang="en-US" sz="1400" b="1" dirty="0">
                          <a:solidFill>
                            <a:schemeClr val="accent2"/>
                          </a:solidFill>
                        </a:rPr>
                        <a:t>Shown</a:t>
                      </a:r>
                      <a:endParaRPr lang="en-US" sz="1400" dirty="0"/>
                    </a:p>
                  </a:txBody>
                  <a:tcPr marL="109728" marR="109728" marT="0" marB="0" anchor="ctr">
                    <a:lnL w="9525" cap="flat" cmpd="sng" algn="ctr">
                      <a:solidFill>
                        <a:srgbClr val="2C3260"/>
                      </a:solidFill>
                      <a:prstDash val="solid"/>
                      <a:round/>
                      <a:headEnd type="none" w="med" len="med"/>
                      <a:tailEnd type="none" w="med" len="med"/>
                    </a:lnL>
                    <a:lnR w="9525" cap="flat" cmpd="sng" algn="ctr">
                      <a:solidFill>
                        <a:srgbClr val="2C3260"/>
                      </a:solidFill>
                      <a:prstDash val="solid"/>
                      <a:round/>
                      <a:headEnd type="none" w="med" len="med"/>
                      <a:tailEnd type="none" w="med" len="med"/>
                    </a:lnR>
                    <a:lnT w="9525" cap="flat" cmpd="sng" algn="ctr">
                      <a:solidFill>
                        <a:srgbClr val="2C3260"/>
                      </a:solidFill>
                      <a:prstDash val="solid"/>
                      <a:round/>
                      <a:headEnd type="none" w="med" len="med"/>
                      <a:tailEnd type="none" w="med" len="med"/>
                    </a:lnT>
                    <a:lnB w="9525" cap="flat" cmpd="sng" algn="ctr">
                      <a:solidFill>
                        <a:srgbClr val="2C3260"/>
                      </a:solidFill>
                      <a:prstDash val="solid"/>
                      <a:round/>
                      <a:headEnd type="none" w="med" len="med"/>
                      <a:tailEnd type="none" w="med" len="med"/>
                    </a:lnB>
                    <a:solidFill>
                      <a:schemeClr val="tx2"/>
                    </a:solidFill>
                  </a:tcPr>
                </a:tc>
              </a:tr>
              <a:tr h="420624">
                <a:tc>
                  <a:txBody>
                    <a:bodyPr/>
                    <a:lstStyle/>
                    <a:p>
                      <a:pPr indent="0" marL="0">
                        <a:buNone/>
                      </a:pPr>
                      <a:r>
                        <a:rPr lang="en-US" sz="1400" b="1" dirty="0">
                          <a:solidFill>
                            <a:schemeClr val="bg1"/>
                          </a:solidFill>
                        </a:rPr>
                        <a:t>M9 Observability</a:t>
                      </a:r>
                      <a:endParaRPr lang="en-US" sz="1400" dirty="0"/>
                    </a:p>
                  </a:txBody>
                  <a:tcPr marL="109728" marR="109728" marT="0" marB="0" anchor="ctr">
                    <a:lnL w="9525" cap="flat" cmpd="sng" algn="ctr">
                      <a:solidFill>
                        <a:srgbClr val="2C3260"/>
                      </a:solidFill>
                      <a:prstDash val="solid"/>
                      <a:round/>
                      <a:headEnd type="none" w="med" len="med"/>
                      <a:tailEnd type="none" w="med" len="med"/>
                    </a:lnL>
                    <a:lnR w="9525" cap="flat" cmpd="sng" algn="ctr">
                      <a:solidFill>
                        <a:srgbClr val="2C3260"/>
                      </a:solidFill>
                      <a:prstDash val="solid"/>
                      <a:round/>
                      <a:headEnd type="none" w="med" len="med"/>
                      <a:tailEnd type="none" w="med" len="med"/>
                    </a:lnR>
                    <a:lnT w="9525" cap="flat" cmpd="sng" algn="ctr">
                      <a:solidFill>
                        <a:srgbClr val="2C3260"/>
                      </a:solidFill>
                      <a:prstDash val="solid"/>
                      <a:round/>
                      <a:headEnd type="none" w="med" len="med"/>
                      <a:tailEnd type="none" w="med" len="med"/>
                    </a:lnT>
                    <a:lnB w="9525" cap="flat" cmpd="sng" algn="ctr">
                      <a:solidFill>
                        <a:srgbClr val="2C3260"/>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rPr>
                        <a:t>/metrics, Prometheus targets UP, Grafana with live panels</a:t>
                      </a:r>
                      <a:endParaRPr lang="en-US" sz="1400" dirty="0"/>
                    </a:p>
                  </a:txBody>
                  <a:tcPr marL="109728" marR="109728" marT="0" marB="0" anchor="ctr">
                    <a:lnL w="9525" cap="flat" cmpd="sng" algn="ctr">
                      <a:solidFill>
                        <a:srgbClr val="2C3260"/>
                      </a:solidFill>
                      <a:prstDash val="solid"/>
                      <a:round/>
                      <a:headEnd type="none" w="med" len="med"/>
                      <a:tailEnd type="none" w="med" len="med"/>
                    </a:lnL>
                    <a:lnR w="9525" cap="flat" cmpd="sng" algn="ctr">
                      <a:solidFill>
                        <a:srgbClr val="2C3260"/>
                      </a:solidFill>
                      <a:prstDash val="solid"/>
                      <a:round/>
                      <a:headEnd type="none" w="med" len="med"/>
                      <a:tailEnd type="none" w="med" len="med"/>
                    </a:lnR>
                    <a:lnT w="9525" cap="flat" cmpd="sng" algn="ctr">
                      <a:solidFill>
                        <a:srgbClr val="2C3260"/>
                      </a:solidFill>
                      <a:prstDash val="solid"/>
                      <a:round/>
                      <a:headEnd type="none" w="med" len="med"/>
                      <a:tailEnd type="none" w="med" len="med"/>
                    </a:lnT>
                    <a:lnB w="9525" cap="flat" cmpd="sng" algn="ctr">
                      <a:solidFill>
                        <a:srgbClr val="2C3260"/>
                      </a:solidFill>
                      <a:prstDash val="solid"/>
                      <a:round/>
                      <a:headEnd type="none" w="med" len="med"/>
                      <a:tailEnd type="none" w="med" len="med"/>
                    </a:lnB>
                    <a:solidFill>
                      <a:schemeClr val="tx2"/>
                    </a:solidFill>
                  </a:tcPr>
                </a:tc>
                <a:tc>
                  <a:txBody>
                    <a:bodyPr/>
                    <a:lstStyle/>
                    <a:p>
                      <a:pPr indent="0" marL="0">
                        <a:buNone/>
                      </a:pPr>
                      <a:r>
                        <a:rPr lang="en-US" sz="1400" b="1" dirty="0">
                          <a:solidFill>
                            <a:schemeClr val="accent2"/>
                          </a:solidFill>
                        </a:rPr>
                        <a:t>Shown</a:t>
                      </a:r>
                      <a:endParaRPr lang="en-US" sz="1400" dirty="0"/>
                    </a:p>
                  </a:txBody>
                  <a:tcPr marL="109728" marR="109728" marT="0" marB="0" anchor="ctr">
                    <a:lnL w="9525" cap="flat" cmpd="sng" algn="ctr">
                      <a:solidFill>
                        <a:srgbClr val="2C3260"/>
                      </a:solidFill>
                      <a:prstDash val="solid"/>
                      <a:round/>
                      <a:headEnd type="none" w="med" len="med"/>
                      <a:tailEnd type="none" w="med" len="med"/>
                    </a:lnL>
                    <a:lnR w="9525" cap="flat" cmpd="sng" algn="ctr">
                      <a:solidFill>
                        <a:srgbClr val="2C3260"/>
                      </a:solidFill>
                      <a:prstDash val="solid"/>
                      <a:round/>
                      <a:headEnd type="none" w="med" len="med"/>
                      <a:tailEnd type="none" w="med" len="med"/>
                    </a:lnR>
                    <a:lnT w="9525" cap="flat" cmpd="sng" algn="ctr">
                      <a:solidFill>
                        <a:srgbClr val="2C3260"/>
                      </a:solidFill>
                      <a:prstDash val="solid"/>
                      <a:round/>
                      <a:headEnd type="none" w="med" len="med"/>
                      <a:tailEnd type="none" w="med" len="med"/>
                    </a:lnT>
                    <a:lnB w="9525" cap="flat" cmpd="sng" algn="ctr">
                      <a:solidFill>
                        <a:srgbClr val="2C3260"/>
                      </a:solidFill>
                      <a:prstDash val="solid"/>
                      <a:round/>
                      <a:headEnd type="none" w="med" len="med"/>
                      <a:tailEnd type="none" w="med" len="med"/>
                    </a:lnB>
                    <a:solidFill>
                      <a:schemeClr val="tx2"/>
                    </a:solidFill>
                  </a:tcPr>
                </a:tc>
              </a:tr>
              <a:tr h="420624">
                <a:tc>
                  <a:txBody>
                    <a:bodyPr/>
                    <a:lstStyle/>
                    <a:p>
                      <a:pPr indent="0" marL="0">
                        <a:buNone/>
                      </a:pPr>
                      <a:r>
                        <a:rPr lang="en-US" sz="1400" b="1" dirty="0">
                          <a:solidFill>
                            <a:schemeClr val="bg1"/>
                          </a:solidFill>
                        </a:rPr>
                        <a:t>M10 Presentation</a:t>
                      </a:r>
                      <a:endParaRPr lang="en-US" sz="1400" dirty="0"/>
                    </a:p>
                  </a:txBody>
                  <a:tcPr marL="109728" marR="109728" marT="0" marB="0" anchor="ctr">
                    <a:lnL w="9525" cap="flat" cmpd="sng" algn="ctr">
                      <a:solidFill>
                        <a:srgbClr val="2C3260"/>
                      </a:solidFill>
                      <a:prstDash val="solid"/>
                      <a:round/>
                      <a:headEnd type="none" w="med" len="med"/>
                      <a:tailEnd type="none" w="med" len="med"/>
                    </a:lnL>
                    <a:lnR w="9525" cap="flat" cmpd="sng" algn="ctr">
                      <a:solidFill>
                        <a:srgbClr val="2C3260"/>
                      </a:solidFill>
                      <a:prstDash val="solid"/>
                      <a:round/>
                      <a:headEnd type="none" w="med" len="med"/>
                      <a:tailEnd type="none" w="med" len="med"/>
                    </a:lnR>
                    <a:lnT w="9525" cap="flat" cmpd="sng" algn="ctr">
                      <a:solidFill>
                        <a:srgbClr val="2C3260"/>
                      </a:solidFill>
                      <a:prstDash val="solid"/>
                      <a:round/>
                      <a:headEnd type="none" w="med" len="med"/>
                      <a:tailEnd type="none" w="med" len="med"/>
                    </a:lnT>
                    <a:lnB w="9525" cap="flat" cmpd="sng" algn="ctr">
                      <a:solidFill>
                        <a:srgbClr val="2C3260"/>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rPr>
                        <a:t>README, deck, walkthrough, local commit → rev 2; a CI run for a new push is still to show</a:t>
                      </a:r>
                      <a:endParaRPr lang="en-US" sz="1400" dirty="0"/>
                    </a:p>
                  </a:txBody>
                  <a:tcPr marL="109728" marR="109728" marT="0" marB="0" anchor="ctr">
                    <a:lnL w="9525" cap="flat" cmpd="sng" algn="ctr">
                      <a:solidFill>
                        <a:srgbClr val="2C3260"/>
                      </a:solidFill>
                      <a:prstDash val="solid"/>
                      <a:round/>
                      <a:headEnd type="none" w="med" len="med"/>
                      <a:tailEnd type="none" w="med" len="med"/>
                    </a:lnL>
                    <a:lnR w="9525" cap="flat" cmpd="sng" algn="ctr">
                      <a:solidFill>
                        <a:srgbClr val="2C3260"/>
                      </a:solidFill>
                      <a:prstDash val="solid"/>
                      <a:round/>
                      <a:headEnd type="none" w="med" len="med"/>
                      <a:tailEnd type="none" w="med" len="med"/>
                    </a:lnR>
                    <a:lnT w="9525" cap="flat" cmpd="sng" algn="ctr">
                      <a:solidFill>
                        <a:srgbClr val="2C3260"/>
                      </a:solidFill>
                      <a:prstDash val="solid"/>
                      <a:round/>
                      <a:headEnd type="none" w="med" len="med"/>
                      <a:tailEnd type="none" w="med" len="med"/>
                    </a:lnT>
                    <a:lnB w="9525" cap="flat" cmpd="sng" algn="ctr">
                      <a:solidFill>
                        <a:srgbClr val="2C3260"/>
                      </a:solidFill>
                      <a:prstDash val="solid"/>
                      <a:round/>
                      <a:headEnd type="none" w="med" len="med"/>
                      <a:tailEnd type="none" w="med" len="med"/>
                    </a:lnB>
                    <a:solidFill>
                      <a:schemeClr val="tx2"/>
                    </a:solidFill>
                  </a:tcPr>
                </a:tc>
                <a:tc>
                  <a:txBody>
                    <a:bodyPr/>
                    <a:lstStyle/>
                    <a:p>
                      <a:pPr indent="0" marL="0">
                        <a:buNone/>
                      </a:pPr>
                      <a:r>
                        <a:rPr lang="en-US" sz="1400" b="1" dirty="0">
                          <a:solidFill>
                            <a:schemeClr val="accent3"/>
                          </a:solidFill>
                        </a:rPr>
                        <a:t>Push live</a:t>
                      </a:r>
                      <a:endParaRPr lang="en-US" sz="1400" dirty="0"/>
                    </a:p>
                  </a:txBody>
                  <a:tcPr marL="109728" marR="109728" marT="0" marB="0" anchor="ctr">
                    <a:lnL w="9525" cap="flat" cmpd="sng" algn="ctr">
                      <a:solidFill>
                        <a:srgbClr val="2C3260"/>
                      </a:solidFill>
                      <a:prstDash val="solid"/>
                      <a:round/>
                      <a:headEnd type="none" w="med" len="med"/>
                      <a:tailEnd type="none" w="med" len="med"/>
                    </a:lnL>
                    <a:lnR w="9525" cap="flat" cmpd="sng" algn="ctr">
                      <a:solidFill>
                        <a:srgbClr val="2C3260"/>
                      </a:solidFill>
                      <a:prstDash val="solid"/>
                      <a:round/>
                      <a:headEnd type="none" w="med" len="med"/>
                      <a:tailEnd type="none" w="med" len="med"/>
                    </a:lnR>
                    <a:lnT w="9525" cap="flat" cmpd="sng" algn="ctr">
                      <a:solidFill>
                        <a:srgbClr val="2C3260"/>
                      </a:solidFill>
                      <a:prstDash val="solid"/>
                      <a:round/>
                      <a:headEnd type="none" w="med" len="med"/>
                      <a:tailEnd type="none" w="med" len="med"/>
                    </a:lnT>
                    <a:lnB w="9525" cap="flat" cmpd="sng" algn="ctr">
                      <a:solidFill>
                        <a:srgbClr val="2C3260"/>
                      </a:solidFill>
                      <a:prstDash val="solid"/>
                      <a:round/>
                      <a:headEnd type="none" w="med" len="med"/>
                      <a:tailEnd type="none" w="med" len="med"/>
                    </a:lnB>
                    <a:solidFill>
                      <a:schemeClr val="tx2"/>
                    </a:solidFill>
                  </a:tcPr>
                </a:tc>
              </a:tr>
            </a:tbl>
          </a:graphicData>
        </a:graphic>
      </p:graphicFrame>
      <p:sp>
        <p:nvSpPr>
          <p:cNvPr id="25" name="Slide Number Placeholder 0"/>
          <p:cNvSpPr>
            <a:spLocks noGrp="1"/>
          </p:cNvSpPr>
          <p:nvPr>
            <p:ph type="sldNum" sz="quarter" idx="4294967295"/>
          </p:nvPr>
        </p:nvSpPr>
        <p:spPr>
          <a:xfrm>
            <a:off x="11183112"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822960" y="1417320"/>
            <a:ext cx="10515600" cy="411480"/>
          </a:xfrm>
          <a:prstGeom prst="rect">
            <a:avLst/>
          </a:prstGeom>
          <a:noFill/>
          <a:ln/>
        </p:spPr>
        <p:txBody>
          <a:bodyPr wrap="square" lIns="0" tIns="0" rIns="0" bIns="0" rtlCol="0"/>
          <a:lstStyle/>
          <a:p>
            <a:pPr indent="0" marL="0">
              <a:buNone/>
            </a:pPr>
            <a:r>
              <a:rPr lang="en-US" sz="1500" b="1" spc="400" kern="0" dirty="0">
                <a:solidFill>
                  <a:schemeClr val="accent6"/>
                </a:solidFill>
              </a:rPr>
              <a:t>CODE → PIPELINE → IMAGE → CLUSTER → MONITORING</a:t>
            </a:r>
            <a:endParaRPr lang="en-US" sz="1500" dirty="0"/>
          </a:p>
        </p:txBody>
      </p:sp>
      <p:sp>
        <p:nvSpPr>
          <p:cNvPr id="3" name="Text 0"/>
          <p:cNvSpPr/>
          <p:nvPr>
            <p:ph idx="101" type="title" hasCustomPrompt="1"/>
          </p:nvPr>
        </p:nvSpPr>
        <p:spPr>
          <a:xfrm>
            <a:off x="822960" y="1828800"/>
            <a:ext cx="10515600" cy="1234440"/>
          </a:xfrm>
          <a:prstGeom prst="rect">
            <a:avLst/>
          </a:prstGeom>
          <a:noFill/>
          <a:ln/>
        </p:spPr>
        <p:txBody>
          <a:bodyPr wrap="square" lIns="0" tIns="0" rIns="0" bIns="0" rtlCol="0" anchor="ctr"/>
          <a:lstStyle/>
          <a:p>
            <a:pPr algn="l" indent="0" marL="0">
              <a:buNone/>
            </a:pPr>
            <a:r>
              <a:rPr lang="en-US" sz="6600" b="1" dirty="0">
                <a:solidFill>
                  <a:schemeClr val="bg1"/>
                </a:solidFill>
              </a:rPr>
              <a:t>Thank you</a:t>
            </a:r>
            <a:endParaRPr lang="en-US" sz="6600" dirty="0"/>
          </a:p>
        </p:txBody>
      </p:sp>
      <p:sp>
        <p:nvSpPr>
          <p:cNvPr id="4" name="Text 0"/>
          <p:cNvSpPr/>
          <p:nvPr>
            <p:ph idx="102" type="body" hasCustomPrompt="1"/>
          </p:nvPr>
        </p:nvSpPr>
        <p:spPr>
          <a:xfrm>
            <a:off x="822960" y="3108960"/>
            <a:ext cx="9875520" cy="868680"/>
          </a:xfrm>
          <a:prstGeom prst="rect">
            <a:avLst/>
          </a:prstGeom>
          <a:noFill/>
          <a:ln/>
        </p:spPr>
        <p:txBody>
          <a:bodyPr wrap="square" lIns="0" tIns="0" rIns="0" bIns="0" rtlCol="0" anchor="t"/>
          <a:lstStyle/>
          <a:p>
            <a:pPr algn="l" indent="0" marL="0">
              <a:buNone/>
            </a:pPr>
            <a:r>
              <a:rPr lang="en-US" sz="2200" dirty="0">
                <a:solidFill>
                  <a:schemeClr val="bg2"/>
                </a:solidFill>
              </a:rPr>
              <a:t>One application, one commit SHA, traceable from source code to a monitored, autoscaling Kubernetes deployment. Questions?</a:t>
            </a:r>
            <a:endParaRPr lang="en-US" sz="2200" dirty="0"/>
          </a:p>
        </p:txBody>
      </p:sp>
      <p:sp>
        <p:nvSpPr>
          <p:cNvPr id="5" name="repo link"/>
          <p:cNvSpPr txBox="1"/>
          <p:nvPr/>
        </p:nvSpPr>
        <p:spPr>
          <a:xfrm>
            <a:off x="822960" y="4754880"/>
            <a:ext cx="10515600" cy="411480"/>
          </a:xfrm>
          <a:prstGeom prst="rect">
            <a:avLst/>
          </a:prstGeom>
          <a:noFill/>
          <a:ln/>
        </p:spPr>
        <p:txBody>
          <a:bodyPr wrap="square" lIns="0" tIns="0" rIns="0" bIns="0" rtlCol="0" anchor="ctr"/>
          <a:lstStyle/>
          <a:p>
            <a:pPr indent="0" marL="0">
              <a:buNone/>
            </a:pPr>
            <a:r>
              <a:rPr lang="en-US" sz="1800" dirty="0">
                <a:solidFill>
                  <a:schemeClr val="accent6"/>
                </a:solidFill>
              </a:rPr>
              <a:t>github.com/TejasVarshney/devops-capstone-project</a:t>
            </a:r>
            <a:endParaRPr lang="en-US" sz="1800" dirty="0"/>
          </a:p>
        </p:txBody>
      </p:sp>
    </p:spTree>
  </p:cSld>
  <p:clrMapOvr>
    <a:masterClrMapping/>
  </p:clrMapOvr>
</p:sld>
</file>

<file path=ppt/theme/theme1.xml><?xml version="1.0" encoding="utf-8"?>
<a:theme xmlns:a="http://schemas.openxmlformats.org/drawingml/2006/main" name="TaskBoard Capstone">
  <a:themeElements>
    <a:clrScheme name="TaskBoard Capstone">
      <a:dk1>
        <a:srgbClr val="0B0F1E"/>
      </a:dk1>
      <a:lt1>
        <a:srgbClr val="FFFFFF"/>
      </a:lt1>
      <a:dk2>
        <a:srgbClr val="161B33"/>
      </a:dk2>
      <a:lt2>
        <a:srgbClr val="B9BDE0"/>
      </a:lt2>
      <a:accent1>
        <a:srgbClr val="818CF8"/>
      </a:accent1>
      <a:accent2>
        <a:srgbClr val="4ADE80"/>
      </a:accent2>
      <a:accent3>
        <a:srgbClr val="FBBF24"/>
      </a:accent3>
      <a:accent4>
        <a:srgbClr val="F87171"/>
      </a:accent4>
      <a:accent5>
        <a:srgbClr val="7DD3FC"/>
      </a:accent5>
      <a:accent6>
        <a:srgbClr val="A5B4FC"/>
      </a:accent6>
      <a:hlink>
        <a:srgbClr val="A5B4FC"/>
      </a:hlink>
      <a:folHlink>
        <a:srgbClr val="C4B5FD"/>
      </a:folHlink>
    </a:clrScheme>
    <a:fontScheme name="TaskBoard Capston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TaskBoard: DevOps Final Capstone</dc:title>
  <dc:subject>PptxGenJS Presentation</dc:subject>
  <dc:creator>Tejas Varshney</dc:creator>
  <cp:lastModifiedBy>Tejas Varshney</cp:lastModifiedBy>
  <cp:revision>1</cp:revision>
  <dcterms:created xsi:type="dcterms:W3CDTF">2026-10-27T06:53:09Z</dcterms:created>
  <dcterms:modified xsi:type="dcterms:W3CDTF">2026-10-27T06:53:09Z</dcterms:modified>
</cp:coreProperties>
</file>